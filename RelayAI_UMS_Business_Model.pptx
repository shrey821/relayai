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61B22"/>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109728" cy="539496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188720"/>
            <a:ext cx="9601200" cy="2926080"/>
          </a:xfrm>
          <a:prstGeom prst="rect">
            <a:avLst/>
          </a:prstGeom>
          <a:noFill/>
        </p:spPr>
        <p:txBody>
          <a:bodyPr wrap="square">
            <a:spAutoFit/>
          </a:bodyPr>
          <a:lstStyle/>
          <a:p>
            <a:pPr>
              <a:spcAft>
                <a:spcPts val="1400"/>
              </a:spcAft>
              <a:defRPr sz="1300" b="1">
                <a:solidFill>
                  <a:srgbClr val="0EA5E9"/>
                </a:solidFill>
              </a:defRPr>
            </a:pPr>
            <a:r>
              <a:t>RELAY AI  •  UNIVERSAL MEMORY SCHEMA (UMS)</a:t>
            </a:r>
          </a:p>
          <a:p>
            <a:pPr>
              <a:spcAft>
                <a:spcPts val="1200"/>
              </a:spcAft>
              <a:defRPr sz="3600" b="1">
                <a:solidFill>
                  <a:srgbClr val="F8FAFC"/>
                </a:solidFill>
              </a:defRPr>
            </a:pPr>
            <a:r>
              <a:t>Business Model &amp; Subscription Strategy</a:t>
            </a:r>
          </a:p>
          <a:p>
            <a:pPr>
              <a:spcAft>
                <a:spcPts val="2400"/>
              </a:spcAft>
              <a:defRPr sz="1600">
                <a:solidFill>
                  <a:srgbClr val="94A3B8"/>
                </a:solidFill>
              </a:defRPr>
            </a:pPr>
            <a:r>
              <a:t>A Defensible, Pragmatic SaaS Framework in Heat Map Format for Cross-LLM Developer Context Portability</a:t>
            </a:r>
          </a:p>
        </p:txBody>
      </p:sp>
      <p:sp>
        <p:nvSpPr>
          <p:cNvPr id="6" name="Rounded Rectangle 5"/>
          <p:cNvSpPr/>
          <p:nvPr/>
        </p:nvSpPr>
        <p:spPr>
          <a:xfrm>
            <a:off x="1280160" y="4297680"/>
            <a:ext cx="2286000" cy="1463040"/>
          </a:xfrm>
          <a:prstGeom prst="roundRect">
            <a:avLst/>
          </a:prstGeom>
          <a:solidFill>
            <a:srgbClr val="11161E"/>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20" y="4407408"/>
            <a:ext cx="2011680" cy="1234440"/>
          </a:xfrm>
          <a:prstGeom prst="rect">
            <a:avLst/>
          </a:prstGeom>
          <a:noFill/>
        </p:spPr>
        <p:txBody>
          <a:bodyPr wrap="square" lIns="0" tIns="0" rIns="0" bIns="0">
            <a:spAutoFit/>
          </a:bodyPr>
          <a:lstStyle/>
          <a:p>
            <a:pPr>
              <a:spcAft>
                <a:spcPts val="400"/>
              </a:spcAft>
              <a:defRPr sz="900" b="1">
                <a:solidFill>
                  <a:srgbClr val="0EA5E9"/>
                </a:solidFill>
              </a:defRPr>
            </a:pPr>
            <a:r>
              <a:t>REVENUE ENGINE</a:t>
            </a:r>
          </a:p>
          <a:p>
            <a:pPr>
              <a:spcAft>
                <a:spcPts val="400"/>
              </a:spcAft>
              <a:defRPr sz="1200" b="1">
                <a:solidFill>
                  <a:srgbClr val="F8FAFC"/>
                </a:solidFill>
              </a:defRPr>
            </a:pPr>
            <a:r>
              <a:t>Pure Subscription Model</a:t>
            </a:r>
          </a:p>
          <a:p>
            <a:pPr>
              <a:defRPr sz="900">
                <a:solidFill>
                  <a:srgbClr val="94A3B8"/>
                </a:solidFill>
              </a:defRPr>
            </a:pPr>
            <a:r>
              <a:t>Free / Pro ($12) / Team ($28) / Enterprise</a:t>
            </a:r>
          </a:p>
        </p:txBody>
      </p:sp>
      <p:sp>
        <p:nvSpPr>
          <p:cNvPr id="8" name="Rounded Rectangle 7"/>
          <p:cNvSpPr/>
          <p:nvPr/>
        </p:nvSpPr>
        <p:spPr>
          <a:xfrm>
            <a:off x="3703320" y="4297680"/>
            <a:ext cx="2286000" cy="1463040"/>
          </a:xfrm>
          <a:prstGeom prst="roundRect">
            <a:avLst/>
          </a:prstGeom>
          <a:solidFill>
            <a:srgbClr val="11161E"/>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0" y="4407408"/>
            <a:ext cx="2011680" cy="1234440"/>
          </a:xfrm>
          <a:prstGeom prst="rect">
            <a:avLst/>
          </a:prstGeom>
          <a:noFill/>
        </p:spPr>
        <p:txBody>
          <a:bodyPr wrap="square" lIns="0" tIns="0" rIns="0" bIns="0">
            <a:spAutoFit/>
          </a:bodyPr>
          <a:lstStyle/>
          <a:p>
            <a:pPr>
              <a:spcAft>
                <a:spcPts val="400"/>
              </a:spcAft>
              <a:defRPr sz="900" b="1">
                <a:solidFill>
                  <a:srgbClr val="10B981"/>
                </a:solidFill>
              </a:defRPr>
            </a:pPr>
            <a:r>
              <a:t>CORE ASSET</a:t>
            </a:r>
          </a:p>
          <a:p>
            <a:pPr>
              <a:spcAft>
                <a:spcPts val="400"/>
              </a:spcAft>
              <a:defRPr sz="1200" b="1">
                <a:solidFill>
                  <a:srgbClr val="F8FAFC"/>
                </a:solidFill>
              </a:defRPr>
            </a:pPr>
            <a:r>
              <a:t>Universal Memory Schema</a:t>
            </a:r>
          </a:p>
          <a:p>
            <a:pPr>
              <a:defRPr sz="900">
                <a:solidFill>
                  <a:srgbClr val="94A3B8"/>
                </a:solidFill>
              </a:defRPr>
            </a:pPr>
            <a:r>
              <a:t>Zero-dependency open IR standard + local vault</a:t>
            </a:r>
          </a:p>
        </p:txBody>
      </p:sp>
      <p:sp>
        <p:nvSpPr>
          <p:cNvPr id="10" name="Rounded Rectangle 9"/>
          <p:cNvSpPr/>
          <p:nvPr/>
        </p:nvSpPr>
        <p:spPr>
          <a:xfrm>
            <a:off x="6126479" y="4297680"/>
            <a:ext cx="2286000" cy="1463040"/>
          </a:xfrm>
          <a:prstGeom prst="roundRect">
            <a:avLst/>
          </a:prstGeom>
          <a:solidFill>
            <a:srgbClr val="11161E"/>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39" y="4407408"/>
            <a:ext cx="2011680" cy="1234440"/>
          </a:xfrm>
          <a:prstGeom prst="rect">
            <a:avLst/>
          </a:prstGeom>
          <a:noFill/>
        </p:spPr>
        <p:txBody>
          <a:bodyPr wrap="square" lIns="0" tIns="0" rIns="0" bIns="0">
            <a:spAutoFit/>
          </a:bodyPr>
          <a:lstStyle/>
          <a:p>
            <a:pPr>
              <a:spcAft>
                <a:spcPts val="400"/>
              </a:spcAft>
              <a:defRPr sz="900" b="1">
                <a:solidFill>
                  <a:srgbClr val="F59E0B"/>
                </a:solidFill>
              </a:defRPr>
            </a:pPr>
            <a:r>
              <a:t>MARKET REALITY</a:t>
            </a:r>
          </a:p>
          <a:p>
            <a:pPr>
              <a:spcAft>
                <a:spcPts val="400"/>
              </a:spcAft>
              <a:defRPr sz="1200" b="1">
                <a:solidFill>
                  <a:srgbClr val="F8FAFC"/>
                </a:solidFill>
              </a:defRPr>
            </a:pPr>
            <a:r>
              <a:t>Context Switching Penalty</a:t>
            </a:r>
          </a:p>
          <a:p>
            <a:pPr>
              <a:defRPr sz="900">
                <a:solidFill>
                  <a:srgbClr val="94A3B8"/>
                </a:solidFill>
              </a:defRPr>
            </a:pPr>
            <a:r>
              <a:t>Saves 3-5 hrs/dev/month across 4+ LLMs</a:t>
            </a:r>
          </a:p>
        </p:txBody>
      </p:sp>
      <p:sp>
        <p:nvSpPr>
          <p:cNvPr id="12" name="Rounded Rectangle 11"/>
          <p:cNvSpPr/>
          <p:nvPr/>
        </p:nvSpPr>
        <p:spPr>
          <a:xfrm>
            <a:off x="8549640" y="4297680"/>
            <a:ext cx="2286000" cy="1463040"/>
          </a:xfrm>
          <a:prstGeom prst="roundRect">
            <a:avLst/>
          </a:prstGeom>
          <a:solidFill>
            <a:srgbClr val="11161E"/>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4407408"/>
            <a:ext cx="2011680" cy="1234440"/>
          </a:xfrm>
          <a:prstGeom prst="rect">
            <a:avLst/>
          </a:prstGeom>
          <a:noFill/>
        </p:spPr>
        <p:txBody>
          <a:bodyPr wrap="square" lIns="0" tIns="0" rIns="0" bIns="0">
            <a:spAutoFit/>
          </a:bodyPr>
          <a:lstStyle/>
          <a:p>
            <a:pPr>
              <a:spcAft>
                <a:spcPts val="400"/>
              </a:spcAft>
              <a:defRPr sz="900" b="1">
                <a:solidFill>
                  <a:srgbClr val="F8FAFC"/>
                </a:solidFill>
              </a:defRPr>
            </a:pPr>
            <a:r>
              <a:t>DEFENSIBILITY</a:t>
            </a:r>
          </a:p>
          <a:p>
            <a:pPr>
              <a:spcAft>
                <a:spcPts val="400"/>
              </a:spcAft>
              <a:defRPr sz="1200" b="1">
                <a:solidFill>
                  <a:srgbClr val="F8FAFC"/>
                </a:solidFill>
              </a:defRPr>
            </a:pPr>
            <a:r>
              <a:t>Vendor Neutrality</a:t>
            </a:r>
          </a:p>
          <a:p>
            <a:pPr>
              <a:defRPr sz="900">
                <a:solidFill>
                  <a:srgbClr val="94A3B8"/>
                </a:solidFill>
              </a:defRPr>
            </a:pPr>
            <a:r>
              <a:t>Zero scraping; official API &amp; memory import pipelines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56032"/>
          </a:xfrm>
          <a:prstGeom prst="rect">
            <a:avLst/>
          </a:prstGeom>
          <a:noFill/>
        </p:spPr>
        <p:txBody>
          <a:bodyPr wrap="square" lIns="0" tIns="0" rIns="0" bIns="0">
            <a:spAutoFit/>
          </a:bodyPr>
          <a:lstStyle/>
          <a:p>
            <a:pPr>
              <a:defRPr sz="1000" b="1">
                <a:solidFill>
                  <a:srgbClr val="0EA5E9"/>
                </a:solidFill>
              </a:defRPr>
            </a:pPr>
            <a:r>
              <a:t>MARKET REALITY &amp; PROBLEM STATEMENT</a:t>
            </a:r>
          </a:p>
        </p:txBody>
      </p:sp>
      <p:sp>
        <p:nvSpPr>
          <p:cNvPr id="4" name="TextBox 3"/>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defRPr>
            </a:pPr>
            <a:r>
              <a:t>The Real Friction: Developer AI Fragmentation &amp; The Context Penalty</a:t>
            </a:r>
          </a:p>
        </p:txBody>
      </p:sp>
      <p:sp>
        <p:nvSpPr>
          <p:cNvPr id="5" name="TextBox 4"/>
          <p:cNvSpPr txBox="1"/>
          <p:nvPr/>
        </p:nvSpPr>
        <p:spPr>
          <a:xfrm>
            <a:off x="10698480" y="365760"/>
            <a:ext cx="822960" cy="274320"/>
          </a:xfrm>
          <a:prstGeom prst="rect">
            <a:avLst/>
          </a:prstGeom>
          <a:noFill/>
        </p:spPr>
        <p:txBody>
          <a:bodyPr wrap="none">
            <a:spAutoFit/>
          </a:bodyPr>
          <a:lstStyle/>
          <a:p>
            <a:pPr algn="r">
              <a:defRPr sz="1000" b="1">
                <a:solidFill>
                  <a:srgbClr val="64748B"/>
                </a:solidFill>
              </a:defRPr>
            </a:pPr>
            <a:r>
              <a:t>02 / 10</a:t>
            </a:r>
          </a:p>
        </p:txBody>
      </p:sp>
      <p:sp>
        <p:nvSpPr>
          <p:cNvPr id="6" name="Rectangle 5"/>
          <p:cNvSpPr/>
          <p:nvPr/>
        </p:nvSpPr>
        <p:spPr>
          <a:xfrm>
            <a:off x="731520" y="1188720"/>
            <a:ext cx="10728655"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3383280" cy="39319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27632"/>
            <a:ext cx="3017520" cy="292608"/>
          </a:xfrm>
          <a:prstGeom prst="rect">
            <a:avLst/>
          </a:prstGeom>
          <a:noFill/>
        </p:spPr>
        <p:txBody>
          <a:bodyPr wrap="square" lIns="0" tIns="0" rIns="0" bIns="0">
            <a:spAutoFit/>
          </a:bodyPr>
          <a:lstStyle/>
          <a:p>
            <a:pPr>
              <a:defRPr sz="1300" b="1">
                <a:solidFill>
                  <a:srgbClr val="F8FAFC"/>
                </a:solidFill>
              </a:defRPr>
            </a:pPr>
            <a:r>
              <a:t>The Multi-Model Reality</a:t>
            </a:r>
          </a:p>
        </p:txBody>
      </p:sp>
      <p:sp>
        <p:nvSpPr>
          <p:cNvPr id="9" name="Rectangle 8"/>
          <p:cNvSpPr/>
          <p:nvPr/>
        </p:nvSpPr>
        <p:spPr>
          <a:xfrm>
            <a:off x="731520" y="1463040"/>
            <a:ext cx="338328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2926080" cy="3200400"/>
          </a:xfrm>
          <a:prstGeom prst="rect">
            <a:avLst/>
          </a:prstGeom>
          <a:noFill/>
        </p:spPr>
        <p:txBody>
          <a:bodyPr wrap="square" lIns="0" tIns="0" rIns="0" bIns="0">
            <a:spAutoFit/>
          </a:bodyPr>
          <a:lstStyle/>
          <a:p>
            <a:pPr>
              <a:spcAft>
                <a:spcPts val="1200"/>
              </a:spcAft>
              <a:defRPr sz="1050" b="1">
                <a:solidFill>
                  <a:srgbClr val="F8FAFC"/>
                </a:solidFill>
              </a:defRPr>
            </a:pPr>
            <a:r>
              <a:t>• 84% of developers: </a:t>
            </a:r>
            <a:r>
              <a:rPr b="0">
                <a:solidFill>
                  <a:srgbClr val="94A3B8"/>
                </a:solidFill>
              </a:rPr>
              <a:t>regularly switch between 2-4 AI tools weekly: Claude Sonnet for deep coding, ChatGPT for architectural synthesis, Cursor for in-file edits, Gemini for 1M+ token repo analysis.</a:t>
            </a:r>
          </a:p>
          <a:p>
            <a:pPr>
              <a:spcAft>
                <a:spcPts val="1200"/>
              </a:spcAft>
              <a:defRPr sz="1050" b="1">
                <a:solidFill>
                  <a:srgbClr val="F8FAFC"/>
                </a:solidFill>
              </a:defRPr>
            </a:pPr>
            <a:r>
              <a:t>• Frequent Switching Drivers: </a:t>
            </a:r>
            <a:r>
              <a:rPr b="0">
                <a:solidFill>
                  <a:srgbClr val="94A3B8"/>
                </a:solidFill>
              </a:rPr>
              <a:t>Prompt rate limits (Claude 5-hr cap), model-specific strengths, and pricing boundaries force devs to shift tools multiple times in a single coding sprint.</a:t>
            </a:r>
          </a:p>
          <a:p>
            <a:pPr>
              <a:spcAft>
                <a:spcPts val="1200"/>
              </a:spcAft>
              <a:defRPr sz="1050" b="1">
                <a:solidFill>
                  <a:srgbClr val="F8FAFC"/>
                </a:solidFill>
              </a:defRPr>
            </a:pPr>
            <a:r>
              <a:t>• Vendor Lock-In Silos: </a:t>
            </a:r>
            <a:r>
              <a:rPr b="0">
                <a:solidFill>
                  <a:srgbClr val="94A3B8"/>
                </a:solidFill>
              </a:rPr>
              <a:t>Each AI provider locks custom rules into proprietary silos, preventing seamless workflow handoffs.</a:t>
            </a:r>
          </a:p>
        </p:txBody>
      </p:sp>
      <p:sp>
        <p:nvSpPr>
          <p:cNvPr id="11" name="Rounded Rectangle 10"/>
          <p:cNvSpPr/>
          <p:nvPr/>
        </p:nvSpPr>
        <p:spPr>
          <a:xfrm>
            <a:off x="4389120" y="1463040"/>
            <a:ext cx="3383280" cy="39319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627632"/>
            <a:ext cx="3017520" cy="292608"/>
          </a:xfrm>
          <a:prstGeom prst="rect">
            <a:avLst/>
          </a:prstGeom>
          <a:noFill/>
        </p:spPr>
        <p:txBody>
          <a:bodyPr wrap="square" lIns="0" tIns="0" rIns="0" bIns="0">
            <a:spAutoFit/>
          </a:bodyPr>
          <a:lstStyle/>
          <a:p>
            <a:pPr>
              <a:defRPr sz="1300" b="1">
                <a:solidFill>
                  <a:srgbClr val="F8FAFC"/>
                </a:solidFill>
              </a:defRPr>
            </a:pPr>
            <a:r>
              <a:t>The 'Context Reset' Penalty</a:t>
            </a:r>
          </a:p>
        </p:txBody>
      </p:sp>
      <p:sp>
        <p:nvSpPr>
          <p:cNvPr id="13" name="Rectangle 12"/>
          <p:cNvSpPr/>
          <p:nvPr/>
        </p:nvSpPr>
        <p:spPr>
          <a:xfrm>
            <a:off x="4389120" y="1463040"/>
            <a:ext cx="33832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011680"/>
            <a:ext cx="2926080" cy="3200400"/>
          </a:xfrm>
          <a:prstGeom prst="rect">
            <a:avLst/>
          </a:prstGeom>
          <a:noFill/>
        </p:spPr>
        <p:txBody>
          <a:bodyPr wrap="square" lIns="0" tIns="0" rIns="0" bIns="0">
            <a:spAutoFit/>
          </a:bodyPr>
          <a:lstStyle/>
          <a:p>
            <a:pPr>
              <a:spcAft>
                <a:spcPts val="1200"/>
              </a:spcAft>
              <a:defRPr sz="1050" b="1">
                <a:solidFill>
                  <a:srgbClr val="F8FAFC"/>
                </a:solidFill>
              </a:defRPr>
            </a:pPr>
            <a:r>
              <a:t>• 15-20 Minutes Per Switch: </a:t>
            </a:r>
            <a:r>
              <a:rPr b="0">
                <a:solidFill>
                  <a:srgbClr val="94A3B8"/>
                </a:solidFill>
              </a:rPr>
              <a:t>Engineers repeatedly re-feed tech stacks, strict TypeScript rules ('zero any', Tailwind v4), architectural decisions, and current blockers every time they switch models.</a:t>
            </a:r>
          </a:p>
          <a:p>
            <a:pPr>
              <a:spcAft>
                <a:spcPts val="1200"/>
              </a:spcAft>
              <a:defRPr sz="1050" b="1">
                <a:solidFill>
                  <a:srgbClr val="F8FAFC"/>
                </a:solidFill>
              </a:defRPr>
            </a:pPr>
            <a:r>
              <a:t>• Compounded Billable Waste: </a:t>
            </a:r>
            <a:r>
              <a:rPr b="0">
                <a:solidFill>
                  <a:srgbClr val="94A3B8"/>
                </a:solidFill>
              </a:rPr>
              <a:t>An average engineer wastes 3 to 5 productive hours every month simply getting a secondary LLM up to speed on active sprint context.</a:t>
            </a:r>
          </a:p>
          <a:p>
            <a:pPr>
              <a:spcAft>
                <a:spcPts val="1200"/>
              </a:spcAft>
              <a:defRPr sz="1050" b="1">
                <a:solidFill>
                  <a:srgbClr val="F8FAFC"/>
                </a:solidFill>
              </a:defRPr>
            </a:pPr>
            <a:r>
              <a:t>• Context Window Pollution: </a:t>
            </a:r>
            <a:r>
              <a:rPr b="0">
                <a:solidFill>
                  <a:srgbClr val="94A3B8"/>
                </a:solidFill>
              </a:rPr>
              <a:t>Re-explaining context in prose wastes scarce context tokens and triggers model instruction drift.</a:t>
            </a:r>
          </a:p>
        </p:txBody>
      </p:sp>
      <p:sp>
        <p:nvSpPr>
          <p:cNvPr id="15" name="Rounded Rectangle 14"/>
          <p:cNvSpPr/>
          <p:nvPr/>
        </p:nvSpPr>
        <p:spPr>
          <a:xfrm>
            <a:off x="8046720" y="1463040"/>
            <a:ext cx="3383280" cy="39319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627632"/>
            <a:ext cx="3017520" cy="292608"/>
          </a:xfrm>
          <a:prstGeom prst="rect">
            <a:avLst/>
          </a:prstGeom>
          <a:noFill/>
        </p:spPr>
        <p:txBody>
          <a:bodyPr wrap="square" lIns="0" tIns="0" rIns="0" bIns="0">
            <a:spAutoFit/>
          </a:bodyPr>
          <a:lstStyle/>
          <a:p>
            <a:pPr>
              <a:defRPr sz="1300" b="1">
                <a:solidFill>
                  <a:srgbClr val="F8FAFC"/>
                </a:solidFill>
              </a:defRPr>
            </a:pPr>
            <a:r>
              <a:t>Why Existing Tools Fail</a:t>
            </a:r>
          </a:p>
        </p:txBody>
      </p:sp>
      <p:sp>
        <p:nvSpPr>
          <p:cNvPr id="17" name="Rectangle 16"/>
          <p:cNvSpPr/>
          <p:nvPr/>
        </p:nvSpPr>
        <p:spPr>
          <a:xfrm>
            <a:off x="8046720" y="1463040"/>
            <a:ext cx="338328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2011680"/>
            <a:ext cx="2926080" cy="3200400"/>
          </a:xfrm>
          <a:prstGeom prst="rect">
            <a:avLst/>
          </a:prstGeom>
          <a:noFill/>
        </p:spPr>
        <p:txBody>
          <a:bodyPr wrap="square" lIns="0" tIns="0" rIns="0" bIns="0">
            <a:spAutoFit/>
          </a:bodyPr>
          <a:lstStyle/>
          <a:p>
            <a:pPr>
              <a:spcAft>
                <a:spcPts val="1200"/>
              </a:spcAft>
              <a:defRPr sz="1050" b="1">
                <a:solidFill>
                  <a:srgbClr val="F8FAFC"/>
                </a:solidFill>
              </a:defRPr>
            </a:pPr>
            <a:r>
              <a:t>• Brittle Screen Scrapers: </a:t>
            </a:r>
            <a:r>
              <a:rPr b="0">
                <a:solidFill>
                  <a:srgbClr val="94A3B8"/>
                </a:solidFill>
              </a:rPr>
              <a:t>Third-party browser extensions using DOM scrapers constantly break with UI changes and violate provider Terms of Service.</a:t>
            </a:r>
          </a:p>
          <a:p>
            <a:pPr>
              <a:spcAft>
                <a:spcPts val="1200"/>
              </a:spcAft>
              <a:defRPr sz="1050" b="1">
                <a:solidFill>
                  <a:srgbClr val="F8FAFC"/>
                </a:solidFill>
              </a:defRPr>
            </a:pPr>
            <a:r>
              <a:t>• Raw Chat Dump Bloat: </a:t>
            </a:r>
            <a:r>
              <a:rPr b="0">
                <a:solidFill>
                  <a:srgbClr val="94A3B8"/>
                </a:solidFill>
              </a:rPr>
              <a:t>Exporting raw transcripts burns 25,000+ tokens on chit-chat, bloating memory and degrading model reasoning.</a:t>
            </a:r>
          </a:p>
          <a:p>
            <a:pPr>
              <a:spcAft>
                <a:spcPts val="1200"/>
              </a:spcAft>
              <a:defRPr sz="1050" b="1">
                <a:solidFill>
                  <a:srgbClr val="F8FAFC"/>
                </a:solidFill>
              </a:defRPr>
            </a:pPr>
            <a:r>
              <a:t>• The UMS Breakthrough: </a:t>
            </a:r>
            <a:r>
              <a:rPr b="0">
                <a:solidFill>
                  <a:srgbClr val="94A3B8"/>
                </a:solidFill>
              </a:rPr>
              <a:t>UMS uses officially documented import prompts &amp; memory queries, normalizing data into a lean 3-Tier standard.</a:t>
            </a:r>
          </a:p>
        </p:txBody>
      </p:sp>
      <p:sp>
        <p:nvSpPr>
          <p:cNvPr id="19" name="Rounded Rectangle 18"/>
          <p:cNvSpPr/>
          <p:nvPr/>
        </p:nvSpPr>
        <p:spPr>
          <a:xfrm>
            <a:off x="731520" y="5577840"/>
            <a:ext cx="10728655" cy="822960"/>
          </a:xfrm>
          <a:prstGeom prst="roundRect">
            <a:avLst/>
          </a:prstGeom>
          <a:solidFill>
            <a:srgbClr val="141A24"/>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623560"/>
            <a:ext cx="10332720" cy="731520"/>
          </a:xfrm>
          <a:prstGeom prst="rect">
            <a:avLst/>
          </a:prstGeom>
          <a:noFill/>
        </p:spPr>
        <p:txBody>
          <a:bodyPr wrap="square">
            <a:spAutoFit/>
          </a:bodyPr>
          <a:lstStyle/>
          <a:p>
            <a:pPr>
              <a:defRPr sz="1050" b="1">
                <a:solidFill>
                  <a:srgbClr val="10B981"/>
                </a:solidFill>
              </a:defRPr>
            </a:pPr>
            <a:r>
              <a:t>CORE INSIGHT (ZERO HYPERBOLE): </a:t>
            </a:r>
            <a:r>
              <a:rPr b="0">
                <a:solidFill>
                  <a:srgbClr val="F8FAFC"/>
                </a:solidFill>
              </a:rPr>
              <a:t>Developers do not want another AI model—they want their existing personalization, coding standards, and active sprint memory to follow them instantly between the models they already pay for.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56032"/>
          </a:xfrm>
          <a:prstGeom prst="rect">
            <a:avLst/>
          </a:prstGeom>
          <a:noFill/>
        </p:spPr>
        <p:txBody>
          <a:bodyPr wrap="square" lIns="0" tIns="0" rIns="0" bIns="0">
            <a:spAutoFit/>
          </a:bodyPr>
          <a:lstStyle/>
          <a:p>
            <a:pPr>
              <a:defRPr sz="1000" b="1">
                <a:solidFill>
                  <a:srgbClr val="0EA5E9"/>
                </a:solidFill>
              </a:defRPr>
            </a:pPr>
            <a:r>
              <a:t>ARCHITECTURE &amp; VALUE PROPOSITION</a:t>
            </a:r>
          </a:p>
        </p:txBody>
      </p:sp>
      <p:sp>
        <p:nvSpPr>
          <p:cNvPr id="4" name="TextBox 3"/>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defRPr>
            </a:pPr>
            <a:r>
              <a:t>Product Foundation: The 3-Tier Universal Memory Architecture</a:t>
            </a:r>
          </a:p>
        </p:txBody>
      </p:sp>
      <p:sp>
        <p:nvSpPr>
          <p:cNvPr id="5" name="TextBox 4"/>
          <p:cNvSpPr txBox="1"/>
          <p:nvPr/>
        </p:nvSpPr>
        <p:spPr>
          <a:xfrm>
            <a:off x="10698480" y="365760"/>
            <a:ext cx="822960" cy="274320"/>
          </a:xfrm>
          <a:prstGeom prst="rect">
            <a:avLst/>
          </a:prstGeom>
          <a:noFill/>
        </p:spPr>
        <p:txBody>
          <a:bodyPr wrap="none">
            <a:spAutoFit/>
          </a:bodyPr>
          <a:lstStyle/>
          <a:p>
            <a:pPr algn="r">
              <a:defRPr sz="1000" b="1">
                <a:solidFill>
                  <a:srgbClr val="64748B"/>
                </a:solidFill>
              </a:defRPr>
            </a:pPr>
            <a:r>
              <a:t>03 / 10</a:t>
            </a:r>
          </a:p>
        </p:txBody>
      </p:sp>
      <p:sp>
        <p:nvSpPr>
          <p:cNvPr id="6" name="Rectangle 5"/>
          <p:cNvSpPr/>
          <p:nvPr/>
        </p:nvSpPr>
        <p:spPr>
          <a:xfrm>
            <a:off x="731520" y="1188720"/>
            <a:ext cx="10728655"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3383280" cy="39319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27632"/>
            <a:ext cx="3017520" cy="292608"/>
          </a:xfrm>
          <a:prstGeom prst="rect">
            <a:avLst/>
          </a:prstGeom>
          <a:noFill/>
        </p:spPr>
        <p:txBody>
          <a:bodyPr wrap="square" lIns="0" tIns="0" rIns="0" bIns="0">
            <a:spAutoFit/>
          </a:bodyPr>
          <a:lstStyle/>
          <a:p>
            <a:pPr>
              <a:defRPr sz="1300" b="1">
                <a:solidFill>
                  <a:srgbClr val="F8FAFC"/>
                </a:solidFill>
              </a:defRPr>
            </a:pPr>
            <a:r>
              <a:t>TIER 1: AI Identity &amp; Long-Term Memory</a:t>
            </a:r>
          </a:p>
        </p:txBody>
      </p:sp>
      <p:sp>
        <p:nvSpPr>
          <p:cNvPr id="9" name="Rectangle 8"/>
          <p:cNvSpPr/>
          <p:nvPr/>
        </p:nvSpPr>
        <p:spPr>
          <a:xfrm>
            <a:off x="731520" y="1463040"/>
            <a:ext cx="338328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74519"/>
            <a:ext cx="3017520" cy="228600"/>
          </a:xfrm>
          <a:prstGeom prst="rect">
            <a:avLst/>
          </a:prstGeom>
          <a:noFill/>
        </p:spPr>
        <p:txBody>
          <a:bodyPr wrap="none">
            <a:spAutoFit/>
          </a:bodyPr>
          <a:lstStyle/>
          <a:p>
            <a:pPr>
              <a:defRPr sz="850" b="1">
                <a:solidFill>
                  <a:srgbClr val="0EA5E9"/>
                </a:solidFill>
              </a:defRPr>
            </a:pPr>
            <a:r>
              <a:t>PERSISTENT CORE</a:t>
            </a:r>
          </a:p>
        </p:txBody>
      </p:sp>
      <p:sp>
        <p:nvSpPr>
          <p:cNvPr id="11" name="TextBox 10"/>
          <p:cNvSpPr txBox="1"/>
          <p:nvPr/>
        </p:nvSpPr>
        <p:spPr>
          <a:xfrm>
            <a:off x="914400" y="2148840"/>
            <a:ext cx="3017520" cy="3108960"/>
          </a:xfrm>
          <a:prstGeom prst="rect">
            <a:avLst/>
          </a:prstGeom>
          <a:noFill/>
        </p:spPr>
        <p:txBody>
          <a:bodyPr wrap="square" lIns="0" tIns="0" rIns="0" bIns="0">
            <a:spAutoFit/>
          </a:bodyPr>
          <a:lstStyle/>
          <a:p>
            <a:pPr>
              <a:spcAft>
                <a:spcPts val="800"/>
              </a:spcAft>
              <a:defRPr sz="950" b="1">
                <a:solidFill>
                  <a:srgbClr val="F8FAFC"/>
                </a:solidFill>
              </a:defRPr>
            </a:pPr>
            <a:r>
              <a:t>• User Profile &amp; Role: </a:t>
            </a:r>
            <a:r>
              <a:rPr b="0">
                <a:solidFill>
                  <a:srgbClr val="94A3B8"/>
                </a:solidFill>
              </a:rPr>
              <a:t>Senior Systems Architect, Full-Stack Engineer, AI Researcher</a:t>
            </a:r>
          </a:p>
          <a:p>
            <a:pPr>
              <a:spcAft>
                <a:spcPts val="800"/>
              </a:spcAft>
              <a:defRPr sz="950" b="1">
                <a:solidFill>
                  <a:srgbClr val="F8FAFC"/>
                </a:solidFill>
              </a:defRPr>
            </a:pPr>
            <a:r>
              <a:t>• Tech Stack &amp; Toolchains: </a:t>
            </a:r>
            <a:r>
              <a:rPr b="0">
                <a:solidFill>
                  <a:srgbClr val="94A3B8"/>
                </a:solidFill>
              </a:rPr>
              <a:t>TypeScript Strict, Next.js, Tailwind v4, FastAPI, PostgreSQL, Docker</a:t>
            </a:r>
          </a:p>
          <a:p>
            <a:pPr>
              <a:spcAft>
                <a:spcPts val="800"/>
              </a:spcAft>
              <a:defRPr sz="950" b="1">
                <a:solidFill>
                  <a:srgbClr val="F8FAFC"/>
                </a:solidFill>
              </a:defRPr>
            </a:pPr>
            <a:r>
              <a:t>• Engineering Conventions: </a:t>
            </a:r>
            <a:r>
              <a:rPr b="0">
                <a:solidFill>
                  <a:srgbClr val="94A3B8"/>
                </a:solidFill>
              </a:rPr>
              <a:t>Zero-any rule, strict TDD, clean architecture, no lazy placeholders</a:t>
            </a:r>
          </a:p>
          <a:p>
            <a:pPr>
              <a:spcAft>
                <a:spcPts val="800"/>
              </a:spcAft>
              <a:defRPr sz="950" b="1">
                <a:solidFill>
                  <a:srgbClr val="F8FAFC"/>
                </a:solidFill>
              </a:defRPr>
            </a:pPr>
            <a:r>
              <a:t>• Communication Tone: </a:t>
            </a:r>
            <a:r>
              <a:rPr b="0">
                <a:solidFill>
                  <a:srgbClr val="94A3B8"/>
                </a:solidFill>
              </a:rPr>
              <a:t>Concise, senior engineer demeanor, no conversational filler</a:t>
            </a:r>
          </a:p>
          <a:p>
            <a:pPr>
              <a:spcAft>
                <a:spcPts val="800"/>
              </a:spcAft>
              <a:defRPr sz="950" b="1">
                <a:solidFill>
                  <a:srgbClr val="F8FAFC"/>
                </a:solidFill>
              </a:defRPr>
            </a:pPr>
            <a:r>
              <a:t>• Target Hydration: </a:t>
            </a:r>
            <a:r>
              <a:rPr b="0">
                <a:solidFill>
                  <a:srgbClr val="94A3B8"/>
                </a:solidFill>
              </a:rPr>
              <a:t>Claude Memory Import, ChatGPT Custom Instructions, Gemini Saved Info</a:t>
            </a:r>
          </a:p>
        </p:txBody>
      </p:sp>
      <p:sp>
        <p:nvSpPr>
          <p:cNvPr id="12" name="Rounded Rectangle 11"/>
          <p:cNvSpPr/>
          <p:nvPr/>
        </p:nvSpPr>
        <p:spPr>
          <a:xfrm>
            <a:off x="4389120" y="1463040"/>
            <a:ext cx="3383280" cy="39319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627632"/>
            <a:ext cx="3017520" cy="292608"/>
          </a:xfrm>
          <a:prstGeom prst="rect">
            <a:avLst/>
          </a:prstGeom>
          <a:noFill/>
        </p:spPr>
        <p:txBody>
          <a:bodyPr wrap="square" lIns="0" tIns="0" rIns="0" bIns="0">
            <a:spAutoFit/>
          </a:bodyPr>
          <a:lstStyle/>
          <a:p>
            <a:pPr>
              <a:defRPr sz="1300" b="1">
                <a:solidFill>
                  <a:srgbClr val="F8FAFC"/>
                </a:solidFill>
              </a:defRPr>
            </a:pPr>
            <a:r>
              <a:t>TIER 2: Active Working Context</a:t>
            </a:r>
          </a:p>
        </p:txBody>
      </p:sp>
      <p:sp>
        <p:nvSpPr>
          <p:cNvPr id="14" name="Rectangle 13"/>
          <p:cNvSpPr/>
          <p:nvPr/>
        </p:nvSpPr>
        <p:spPr>
          <a:xfrm>
            <a:off x="4389120" y="1463040"/>
            <a:ext cx="33832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74519"/>
            <a:ext cx="3017520" cy="228600"/>
          </a:xfrm>
          <a:prstGeom prst="rect">
            <a:avLst/>
          </a:prstGeom>
          <a:noFill/>
        </p:spPr>
        <p:txBody>
          <a:bodyPr wrap="none">
            <a:spAutoFit/>
          </a:bodyPr>
          <a:lstStyle/>
          <a:p>
            <a:pPr>
              <a:defRPr sz="850" b="1">
                <a:solidFill>
                  <a:srgbClr val="10B981"/>
                </a:solidFill>
              </a:defRPr>
            </a:pPr>
            <a:r>
              <a:t>SPRINT-LEVEL CONTEXT</a:t>
            </a:r>
          </a:p>
        </p:txBody>
      </p:sp>
      <p:sp>
        <p:nvSpPr>
          <p:cNvPr id="16" name="TextBox 15"/>
          <p:cNvSpPr txBox="1"/>
          <p:nvPr/>
        </p:nvSpPr>
        <p:spPr>
          <a:xfrm>
            <a:off x="4572000" y="2148840"/>
            <a:ext cx="3017520" cy="3108960"/>
          </a:xfrm>
          <a:prstGeom prst="rect">
            <a:avLst/>
          </a:prstGeom>
          <a:noFill/>
        </p:spPr>
        <p:txBody>
          <a:bodyPr wrap="square" lIns="0" tIns="0" rIns="0" bIns="0">
            <a:spAutoFit/>
          </a:bodyPr>
          <a:lstStyle/>
          <a:p>
            <a:pPr>
              <a:spcAft>
                <a:spcPts val="800"/>
              </a:spcAft>
              <a:defRPr sz="950" b="1">
                <a:solidFill>
                  <a:srgbClr val="F8FAFC"/>
                </a:solidFill>
              </a:defRPr>
            </a:pPr>
            <a:r>
              <a:t>• Primary Objective: </a:t>
            </a:r>
            <a:r>
              <a:rPr b="0">
                <a:solidFill>
                  <a:srgbClr val="94A3B8"/>
                </a:solidFill>
              </a:rPr>
              <a:t>E.g., Complete UMS Core v1 Engine &amp; SQLite Vault migration</a:t>
            </a:r>
          </a:p>
          <a:p>
            <a:pPr>
              <a:spcAft>
                <a:spcPts val="800"/>
              </a:spcAft>
              <a:defRPr sz="950" b="1">
                <a:solidFill>
                  <a:srgbClr val="F8FAFC"/>
                </a:solidFill>
              </a:defRPr>
            </a:pPr>
            <a:r>
              <a:t>• Active Decisions Today: </a:t>
            </a:r>
            <a:r>
              <a:rPr b="0">
                <a:solidFill>
                  <a:srgbClr val="94A3B8"/>
                </a:solidFill>
              </a:rPr>
              <a:t>Decisions finalized this session (e.g., zero external dependencies)</a:t>
            </a:r>
          </a:p>
          <a:p>
            <a:pPr>
              <a:spcAft>
                <a:spcPts val="800"/>
              </a:spcAft>
              <a:defRPr sz="950" b="1">
                <a:solidFill>
                  <a:srgbClr val="F8FAFC"/>
                </a:solidFill>
              </a:defRPr>
            </a:pPr>
            <a:r>
              <a:t>• Current Blockers: </a:t>
            </a:r>
            <a:r>
              <a:rPr b="0">
                <a:solidFill>
                  <a:srgbClr val="94A3B8"/>
                </a:solidFill>
              </a:rPr>
              <a:t>Known constraints, pending PR reviews, temporary architectural locks</a:t>
            </a:r>
          </a:p>
          <a:p>
            <a:pPr>
              <a:spcAft>
                <a:spcPts val="800"/>
              </a:spcAft>
              <a:defRPr sz="950" b="1">
                <a:solidFill>
                  <a:srgbClr val="F8FAFC"/>
                </a:solidFill>
              </a:defRPr>
            </a:pPr>
            <a:r>
              <a:t>• Ephemeral Guardrails: </a:t>
            </a:r>
            <a:r>
              <a:rPr b="0">
                <a:solidFill>
                  <a:srgbClr val="94A3B8"/>
                </a:solidFill>
              </a:rPr>
              <a:t>Constraints like 'Do not touch auth schema during this refactor'</a:t>
            </a:r>
          </a:p>
          <a:p>
            <a:pPr>
              <a:spcAft>
                <a:spcPts val="800"/>
              </a:spcAft>
              <a:defRPr sz="950" b="1">
                <a:solidFill>
                  <a:srgbClr val="F8FAFC"/>
                </a:solidFill>
              </a:defRPr>
            </a:pPr>
            <a:r>
              <a:t>• Target Hydration: </a:t>
            </a:r>
            <a:r>
              <a:rPr b="0">
                <a:solidFill>
                  <a:srgbClr val="94A3B8"/>
                </a:solidFill>
              </a:rPr>
              <a:t>Active chat preambles, Cursor/Windsurf session rules, CLI state</a:t>
            </a:r>
          </a:p>
        </p:txBody>
      </p:sp>
      <p:sp>
        <p:nvSpPr>
          <p:cNvPr id="17" name="Rounded Rectangle 16"/>
          <p:cNvSpPr/>
          <p:nvPr/>
        </p:nvSpPr>
        <p:spPr>
          <a:xfrm>
            <a:off x="8046720" y="1463040"/>
            <a:ext cx="3383280" cy="39319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627632"/>
            <a:ext cx="3017520" cy="292608"/>
          </a:xfrm>
          <a:prstGeom prst="rect">
            <a:avLst/>
          </a:prstGeom>
          <a:noFill/>
        </p:spPr>
        <p:txBody>
          <a:bodyPr wrap="square" lIns="0" tIns="0" rIns="0" bIns="0">
            <a:spAutoFit/>
          </a:bodyPr>
          <a:lstStyle/>
          <a:p>
            <a:pPr>
              <a:defRPr sz="1300" b="1">
                <a:solidFill>
                  <a:srgbClr val="F8FAFC"/>
                </a:solidFill>
              </a:defRPr>
            </a:pPr>
            <a:r>
              <a:t>TIER 3: Conversation Transcript</a:t>
            </a:r>
          </a:p>
        </p:txBody>
      </p:sp>
      <p:sp>
        <p:nvSpPr>
          <p:cNvPr id="19" name="Rectangle 18"/>
          <p:cNvSpPr/>
          <p:nvPr/>
        </p:nvSpPr>
        <p:spPr>
          <a:xfrm>
            <a:off x="8046720" y="1463040"/>
            <a:ext cx="338328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874519"/>
            <a:ext cx="3017520" cy="228600"/>
          </a:xfrm>
          <a:prstGeom prst="rect">
            <a:avLst/>
          </a:prstGeom>
          <a:noFill/>
        </p:spPr>
        <p:txBody>
          <a:bodyPr wrap="none">
            <a:spAutoFit/>
          </a:bodyPr>
          <a:lstStyle/>
          <a:p>
            <a:pPr>
              <a:defRPr sz="850" b="1">
                <a:solidFill>
                  <a:srgbClr val="EF4444"/>
                </a:solidFill>
              </a:defRPr>
            </a:pPr>
            <a:r>
              <a:t>FILTERED / PRUNED</a:t>
            </a:r>
          </a:p>
        </p:txBody>
      </p:sp>
      <p:sp>
        <p:nvSpPr>
          <p:cNvPr id="21" name="TextBox 20"/>
          <p:cNvSpPr txBox="1"/>
          <p:nvPr/>
        </p:nvSpPr>
        <p:spPr>
          <a:xfrm>
            <a:off x="8229600" y="2148840"/>
            <a:ext cx="3017520" cy="3108960"/>
          </a:xfrm>
          <a:prstGeom prst="rect">
            <a:avLst/>
          </a:prstGeom>
          <a:noFill/>
        </p:spPr>
        <p:txBody>
          <a:bodyPr wrap="square" lIns="0" tIns="0" rIns="0" bIns="0">
            <a:spAutoFit/>
          </a:bodyPr>
          <a:lstStyle/>
          <a:p>
            <a:pPr>
              <a:spcAft>
                <a:spcPts val="800"/>
              </a:spcAft>
              <a:defRPr sz="950" b="1">
                <a:solidFill>
                  <a:srgbClr val="F8FAFC"/>
                </a:solidFill>
              </a:defRPr>
            </a:pPr>
            <a:r>
              <a:t>• Raw Turn-by-Turn History: </a:t>
            </a:r>
            <a:r>
              <a:rPr b="0">
                <a:solidFill>
                  <a:srgbClr val="94A3B8"/>
                </a:solidFill>
              </a:rPr>
              <a:t>Raw multi-turn conversational chat logs between user and LLM</a:t>
            </a:r>
          </a:p>
          <a:p>
            <a:pPr>
              <a:spcAft>
                <a:spcPts val="800"/>
              </a:spcAft>
              <a:defRPr sz="950" b="1">
                <a:solidFill>
                  <a:srgbClr val="F8FAFC"/>
                </a:solidFill>
              </a:defRPr>
            </a:pPr>
            <a:r>
              <a:t>• Zero Token Bloat: </a:t>
            </a:r>
            <a:r>
              <a:rPr b="0">
                <a:solidFill>
                  <a:srgbClr val="94A3B8"/>
                </a:solidFill>
              </a:rPr>
              <a:t>Pruned by default during cross-model transfer to eliminate token waste</a:t>
            </a:r>
          </a:p>
          <a:p>
            <a:pPr>
              <a:spcAft>
                <a:spcPts val="800"/>
              </a:spcAft>
              <a:defRPr sz="950" b="1">
                <a:solidFill>
                  <a:srgbClr val="F8FAFC"/>
                </a:solidFill>
              </a:defRPr>
            </a:pPr>
            <a:r>
              <a:t>• Privacy Boundary: </a:t>
            </a:r>
            <a:r>
              <a:rPr b="0">
                <a:solidFill>
                  <a:srgbClr val="94A3B8"/>
                </a:solidFill>
              </a:rPr>
              <a:t>Prevents accidental leakage of transient conversational banter</a:t>
            </a:r>
          </a:p>
          <a:p>
            <a:pPr>
              <a:spcAft>
                <a:spcPts val="800"/>
              </a:spcAft>
              <a:defRPr sz="950" b="1">
                <a:solidFill>
                  <a:srgbClr val="F8FAFC"/>
                </a:solidFill>
              </a:defRPr>
            </a:pPr>
            <a:r>
              <a:t>• Optional Archival: </a:t>
            </a:r>
            <a:r>
              <a:rPr b="0">
                <a:solidFill>
                  <a:srgbClr val="94A3B8"/>
                </a:solidFill>
              </a:rPr>
              <a:t>Stored locally in SQLite vault only if developer explicitly requests</a:t>
            </a:r>
          </a:p>
          <a:p>
            <a:pPr>
              <a:spcAft>
                <a:spcPts val="800"/>
              </a:spcAft>
              <a:defRPr sz="950" b="1">
                <a:solidFill>
                  <a:srgbClr val="F8FAFC"/>
                </a:solidFill>
              </a:defRPr>
            </a:pPr>
            <a:r>
              <a:t>• Target Hydration: </a:t>
            </a:r>
            <a:r>
              <a:rPr b="0">
                <a:solidFill>
                  <a:srgbClr val="94A3B8"/>
                </a:solidFill>
              </a:rPr>
              <a:t>Local snapshot replay only; never injected into LLM system prompts</a:t>
            </a:r>
          </a:p>
        </p:txBody>
      </p:sp>
      <p:sp>
        <p:nvSpPr>
          <p:cNvPr id="22" name="Rounded Rectangle 21"/>
          <p:cNvSpPr/>
          <p:nvPr/>
        </p:nvSpPr>
        <p:spPr>
          <a:xfrm>
            <a:off x="731520" y="5577840"/>
            <a:ext cx="10728655" cy="822960"/>
          </a:xfrm>
          <a:prstGeom prst="roundRect">
            <a:avLst/>
          </a:prstGeom>
          <a:solidFill>
            <a:srgbClr val="141A24"/>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623560"/>
            <a:ext cx="10332720" cy="731520"/>
          </a:xfrm>
          <a:prstGeom prst="rect">
            <a:avLst/>
          </a:prstGeom>
          <a:noFill/>
        </p:spPr>
        <p:txBody>
          <a:bodyPr wrap="square">
            <a:spAutoFit/>
          </a:bodyPr>
          <a:lstStyle/>
          <a:p>
            <a:pPr>
              <a:defRPr sz="1000" b="1">
                <a:solidFill>
                  <a:srgbClr val="0EA5E9"/>
                </a:solidFill>
              </a:defRPr>
            </a:pPr>
            <a:r>
              <a:t>THE ZERO-DEPENDENCY SUITE: </a:t>
            </a:r>
            <a:r>
              <a:rPr b="0">
                <a:solidFill>
                  <a:srgbClr val="94A3B8"/>
                </a:solidFill>
              </a:rPr>
              <a:t>Open Spec (spec/ums-v1.json)  →  Local SQLite Vault (ums_vault.db)  →  Headless CLI (cli.py)  →  Web Studio (run.py)  →  Browser Companion (extension/)
Enables 100% offline, local-first privacy with instant 1-click cloud sync whenever the user desires.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56032"/>
          </a:xfrm>
          <a:prstGeom prst="rect">
            <a:avLst/>
          </a:prstGeom>
          <a:noFill/>
        </p:spPr>
        <p:txBody>
          <a:bodyPr wrap="square" lIns="0" tIns="0" rIns="0" bIns="0">
            <a:spAutoFit/>
          </a:bodyPr>
          <a:lstStyle/>
          <a:p>
            <a:pPr>
              <a:defRPr sz="1000" b="1">
                <a:solidFill>
                  <a:srgbClr val="0EA5E9"/>
                </a:solidFill>
              </a:defRPr>
            </a:pPr>
            <a:r>
              <a:t>CORE BUSINESS MODEL  •  MARKET EVALUATION</a:t>
            </a:r>
          </a:p>
        </p:txBody>
      </p:sp>
      <p:sp>
        <p:nvSpPr>
          <p:cNvPr id="4" name="TextBox 3"/>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defRPr>
            </a:pPr>
            <a:r>
              <a:t>Business Model Heat Map: Customer Segment Viability Matrix</a:t>
            </a:r>
          </a:p>
        </p:txBody>
      </p:sp>
      <p:sp>
        <p:nvSpPr>
          <p:cNvPr id="5" name="TextBox 4"/>
          <p:cNvSpPr txBox="1"/>
          <p:nvPr/>
        </p:nvSpPr>
        <p:spPr>
          <a:xfrm>
            <a:off x="10698480" y="365760"/>
            <a:ext cx="822960" cy="274320"/>
          </a:xfrm>
          <a:prstGeom prst="rect">
            <a:avLst/>
          </a:prstGeom>
          <a:noFill/>
        </p:spPr>
        <p:txBody>
          <a:bodyPr wrap="none">
            <a:spAutoFit/>
          </a:bodyPr>
          <a:lstStyle/>
          <a:p>
            <a:pPr algn="r">
              <a:defRPr sz="1000" b="1">
                <a:solidFill>
                  <a:srgbClr val="64748B"/>
                </a:solidFill>
              </a:defRPr>
            </a:pPr>
            <a:r>
              <a:t>04 / 10</a:t>
            </a:r>
          </a:p>
        </p:txBody>
      </p:sp>
      <p:sp>
        <p:nvSpPr>
          <p:cNvPr id="6" name="Rectangle 5"/>
          <p:cNvSpPr/>
          <p:nvPr/>
        </p:nvSpPr>
        <p:spPr>
          <a:xfrm>
            <a:off x="731520" y="1188720"/>
            <a:ext cx="10728655"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371600"/>
          <a:ext cx="10698480" cy="3931920"/>
        </p:xfrm>
        <a:graphic>
          <a:graphicData uri="http://schemas.openxmlformats.org/drawingml/2006/table">
            <a:tbl>
              <a:tblPr firstRow="1" bandRow="1">
                <a:tableStyleId>{5C22544A-7EE6-4342-B048-85BDC9FD1C3A}</a:tableStyleId>
              </a:tblPr>
              <a:tblGrid>
                <a:gridCol w="2011680"/>
                <a:gridCol w="1371600"/>
                <a:gridCol w="1463040"/>
                <a:gridCol w="1371600"/>
                <a:gridCol w="1371600"/>
                <a:gridCol w="1371600"/>
                <a:gridCol w="1737360"/>
              </a:tblGrid>
              <a:tr h="655320">
                <a:tc>
                  <a:txBody>
                    <a:bodyPr wrap="square"/>
                    <a:lstStyle/>
                    <a:p>
                      <a:pPr algn="ctr">
                        <a:defRPr sz="950" b="1">
                          <a:solidFill>
                            <a:srgbClr val="0EA5E9"/>
                          </a:solidFill>
                        </a:defRPr>
                      </a:pPr>
                      <a:r>
                        <a:t>Customer Segment</a:t>
                      </a:r>
                    </a:p>
                  </a:txBody>
                  <a:tcPr anchor="ctr" marL="73152" marR="73152" marT="45720" marB="45720">
                    <a:solidFill>
                      <a:srgbClr val="1E293B"/>
                    </a:solidFill>
                  </a:tcPr>
                </a:tc>
                <a:tc>
                  <a:txBody>
                    <a:bodyPr wrap="square"/>
                    <a:lstStyle/>
                    <a:p>
                      <a:pPr algn="ctr">
                        <a:defRPr sz="950" b="1">
                          <a:solidFill>
                            <a:srgbClr val="0EA5E9"/>
                          </a:solidFill>
                        </a:defRPr>
                      </a:pPr>
                      <a:r>
                        <a:t>Context Pain</a:t>
                      </a:r>
                      <a:br/>
                      <a:r>
                        <a:t>(1-5)</a:t>
                      </a:r>
                    </a:p>
                  </a:txBody>
                  <a:tcPr anchor="ctr" marL="73152" marR="73152" marT="45720" marB="45720">
                    <a:solidFill>
                      <a:srgbClr val="1E293B"/>
                    </a:solidFill>
                  </a:tcPr>
                </a:tc>
                <a:tc>
                  <a:txBody>
                    <a:bodyPr wrap="square"/>
                    <a:lstStyle/>
                    <a:p>
                      <a:pPr algn="ctr">
                        <a:defRPr sz="950" b="1">
                          <a:solidFill>
                            <a:srgbClr val="0EA5E9"/>
                          </a:solidFill>
                        </a:defRPr>
                      </a:pPr>
                      <a:r>
                        <a:t>Willingness To Pay</a:t>
                      </a:r>
                      <a:br/>
                      <a:r>
                        <a:t>(WTP / User / Mo)</a:t>
                      </a:r>
                    </a:p>
                  </a:txBody>
                  <a:tcPr anchor="ctr" marL="73152" marR="73152" marT="45720" marB="45720">
                    <a:solidFill>
                      <a:srgbClr val="1E293B"/>
                    </a:solidFill>
                  </a:tcPr>
                </a:tc>
                <a:tc>
                  <a:txBody>
                    <a:bodyPr wrap="square"/>
                    <a:lstStyle/>
                    <a:p>
                      <a:pPr algn="ctr">
                        <a:defRPr sz="950" b="1">
                          <a:solidFill>
                            <a:srgbClr val="0EA5E9"/>
                          </a:solidFill>
                        </a:defRPr>
                      </a:pPr>
                      <a:r>
                        <a:t>Acquisition CAC</a:t>
                      </a:r>
                      <a:br/>
                      <a:r>
                        <a:t>Efficiency</a:t>
                      </a:r>
                    </a:p>
                  </a:txBody>
                  <a:tcPr anchor="ctr" marL="73152" marR="73152" marT="45720" marB="45720">
                    <a:solidFill>
                      <a:srgbClr val="1E293B"/>
                    </a:solidFill>
                  </a:tcPr>
                </a:tc>
                <a:tc>
                  <a:txBody>
                    <a:bodyPr wrap="square"/>
                    <a:lstStyle/>
                    <a:p>
                      <a:pPr algn="ctr">
                        <a:defRPr sz="950" b="1">
                          <a:solidFill>
                            <a:srgbClr val="0EA5E9"/>
                          </a:solidFill>
                        </a:defRPr>
                      </a:pPr>
                      <a:r>
                        <a:t>Retention / Churn</a:t>
                      </a:r>
                      <a:br/>
                      <a:r>
                        <a:t>Risk Profile</a:t>
                      </a:r>
                    </a:p>
                  </a:txBody>
                  <a:tcPr anchor="ctr" marL="73152" marR="73152" marT="45720" marB="45720">
                    <a:solidFill>
                      <a:srgbClr val="1E293B"/>
                    </a:solidFill>
                  </a:tcPr>
                </a:tc>
                <a:tc>
                  <a:txBody>
                    <a:bodyPr wrap="square"/>
                    <a:lstStyle/>
                    <a:p>
                      <a:pPr algn="ctr">
                        <a:defRPr sz="950" b="1">
                          <a:solidFill>
                            <a:srgbClr val="0EA5E9"/>
                          </a:solidFill>
                        </a:defRPr>
                      </a:pPr>
                      <a:r>
                        <a:t>Expansion Revenue</a:t>
                      </a:r>
                      <a:br/>
                      <a:r>
                        <a:t>Potential</a:t>
                      </a:r>
                    </a:p>
                  </a:txBody>
                  <a:tcPr anchor="ctr" marL="73152" marR="73152" marT="45720" marB="45720">
                    <a:solidFill>
                      <a:srgbClr val="1E293B"/>
                    </a:solidFill>
                  </a:tcPr>
                </a:tc>
                <a:tc>
                  <a:txBody>
                    <a:bodyPr wrap="square"/>
                    <a:lstStyle/>
                    <a:p>
                      <a:pPr algn="ctr">
                        <a:defRPr sz="950" b="1">
                          <a:solidFill>
                            <a:srgbClr val="0EA5E9"/>
                          </a:solidFill>
                        </a:defRPr>
                      </a:pPr>
                      <a:r>
                        <a:t>Commercial</a:t>
                      </a:r>
                      <a:br/>
                      <a:r>
                        <a:t>Attractiveness</a:t>
                      </a:r>
                    </a:p>
                  </a:txBody>
                  <a:tcPr anchor="ctr" marL="73152" marR="73152" marT="45720" marB="45720">
                    <a:solidFill>
                      <a:srgbClr val="1E293B"/>
                    </a:solidFill>
                  </a:tcPr>
                </a:tc>
              </a:tr>
              <a:tr h="655320">
                <a:tc>
                  <a:txBody>
                    <a:bodyPr wrap="square"/>
                    <a:lstStyle/>
                    <a:p>
                      <a:pPr algn="l">
                        <a:defRPr sz="900" b="1">
                          <a:solidFill>
                            <a:srgbClr val="F8FAFC"/>
                          </a:solidFill>
                        </a:defRPr>
                      </a:pPr>
                      <a:r>
                        <a:t>Indie Hackers &amp; Students</a:t>
                      </a:r>
                      <a:br/>
                      <a:r>
                        <a:t>(Solo hobbyists, early builders)</a:t>
                      </a:r>
                    </a:p>
                  </a:txBody>
                  <a:tcPr anchor="ctr" marL="73152" marR="73152" marT="45720" marB="45720">
                    <a:solidFill>
                      <a:srgbClr val="161B22"/>
                    </a:solidFill>
                  </a:tcPr>
                </a:tc>
                <a:tc>
                  <a:txBody>
                    <a:bodyPr wrap="square"/>
                    <a:lstStyle/>
                    <a:p>
                      <a:pPr algn="ctr">
                        <a:defRPr sz="850" b="1">
                          <a:solidFill>
                            <a:srgbClr val="F8FAFC"/>
                          </a:solidFill>
                        </a:defRPr>
                      </a:pPr>
                      <a:r>
                        <a:t>Moderate (2.5/5)</a:t>
                      </a:r>
                      <a:br/>
                      <a:r>
                        <a:t>Single project focus</a:t>
                      </a:r>
                    </a:p>
                  </a:txBody>
                  <a:tcPr anchor="ctr" marL="73152" marR="73152" marT="45720" marB="45720">
                    <a:solidFill>
                      <a:srgbClr val="283246"/>
                    </a:solidFill>
                  </a:tcPr>
                </a:tc>
                <a:tc>
                  <a:txBody>
                    <a:bodyPr wrap="square"/>
                    <a:lstStyle/>
                    <a:p>
                      <a:pPr algn="ctr">
                        <a:defRPr sz="850" b="1">
                          <a:solidFill>
                            <a:srgbClr val="F8FAFC"/>
                          </a:solidFill>
                        </a:defRPr>
                      </a:pPr>
                      <a:r>
                        <a:t>Low ($0 - $5/mo)</a:t>
                      </a:r>
                      <a:br/>
                      <a:r>
                        <a:t>High price resistance</a:t>
                      </a:r>
                    </a:p>
                  </a:txBody>
                  <a:tcPr anchor="ctr" marL="73152" marR="73152" marT="45720" marB="45720">
                    <a:solidFill>
                      <a:srgbClr val="9B2D2D"/>
                    </a:solidFill>
                  </a:tcPr>
                </a:tc>
                <a:tc>
                  <a:txBody>
                    <a:bodyPr wrap="square"/>
                    <a:lstStyle/>
                    <a:p>
                      <a:pPr algn="ctr">
                        <a:defRPr sz="850" b="1">
                          <a:solidFill>
                            <a:srgbClr val="F8FAFC"/>
                          </a:solidFill>
                        </a:defRPr>
                      </a:pPr>
                      <a:r>
                        <a:t>High Organic</a:t>
                      </a:r>
                      <a:br/>
                      <a:r>
                        <a:t>(GitHub, viral HN)</a:t>
                      </a:r>
                    </a:p>
                  </a:txBody>
                  <a:tcPr anchor="ctr" marL="73152" marR="73152" marT="45720" marB="45720">
                    <a:solidFill>
                      <a:srgbClr val="148255"/>
                    </a:solidFill>
                  </a:tcPr>
                </a:tc>
                <a:tc>
                  <a:txBody>
                    <a:bodyPr wrap="square"/>
                    <a:lstStyle/>
                    <a:p>
                      <a:pPr algn="ctr">
                        <a:defRPr sz="850" b="1">
                          <a:solidFill>
                            <a:srgbClr val="F8FAFC"/>
                          </a:solidFill>
                        </a:defRPr>
                      </a:pPr>
                      <a:r>
                        <a:t>High Churn (6-8%)</a:t>
                      </a:r>
                      <a:br/>
                      <a:r>
                        <a:t>Project abandonment</a:t>
                      </a:r>
                    </a:p>
                  </a:txBody>
                  <a:tcPr anchor="ctr" marL="73152" marR="73152" marT="45720" marB="45720">
                    <a:solidFill>
                      <a:srgbClr val="9B2D2D"/>
                    </a:solidFill>
                  </a:tcPr>
                </a:tc>
                <a:tc>
                  <a:txBody>
                    <a:bodyPr wrap="square"/>
                    <a:lstStyle/>
                    <a:p>
                      <a:pPr algn="ctr">
                        <a:defRPr sz="850" b="1">
                          <a:solidFill>
                            <a:srgbClr val="F8FAFC"/>
                          </a:solidFill>
                        </a:defRPr>
                      </a:pPr>
                      <a:r>
                        <a:t>Minimal</a:t>
                      </a:r>
                      <a:br/>
                      <a:r>
                        <a:t>Single user seats</a:t>
                      </a:r>
                    </a:p>
                  </a:txBody>
                  <a:tcPr anchor="ctr" marL="73152" marR="73152" marT="45720" marB="45720">
                    <a:solidFill>
                      <a:srgbClr val="9B2D2D"/>
                    </a:solidFill>
                  </a:tcPr>
                </a:tc>
                <a:tc>
                  <a:txBody>
                    <a:bodyPr wrap="square"/>
                    <a:lstStyle/>
                    <a:p>
                      <a:pPr algn="ctr">
                        <a:defRPr sz="850" b="1">
                          <a:solidFill>
                            <a:srgbClr val="F8FAFC"/>
                          </a:solidFill>
                        </a:defRPr>
                      </a:pPr>
                      <a:r>
                        <a:t>NEUTRAL (Tier: Free OSS)</a:t>
                      </a:r>
                      <a:br/>
                      <a:r>
                        <a:t>Top-of-funnel brand flywheel</a:t>
                      </a:r>
                    </a:p>
                  </a:txBody>
                  <a:tcPr anchor="ctr" marL="73152" marR="73152" marT="45720" marB="45720">
                    <a:solidFill>
                      <a:srgbClr val="283246"/>
                    </a:solidFill>
                  </a:tcPr>
                </a:tc>
              </a:tr>
              <a:tr h="655320">
                <a:tc>
                  <a:txBody>
                    <a:bodyPr wrap="square"/>
                    <a:lstStyle/>
                    <a:p>
                      <a:pPr algn="l">
                        <a:defRPr sz="900" b="1">
                          <a:solidFill>
                            <a:srgbClr val="F8FAFC"/>
                          </a:solidFill>
                        </a:defRPr>
                      </a:pPr>
                      <a:r>
                        <a:t>Senior Dev Contractors</a:t>
                      </a:r>
                      <a:br/>
                      <a:r>
                        <a:t>(Consultants, multi-client leads)</a:t>
                      </a:r>
                    </a:p>
                  </a:txBody>
                  <a:tcPr anchor="ctr" marL="73152" marR="73152" marT="45720" marB="45720">
                    <a:solidFill>
                      <a:srgbClr val="161B22"/>
                    </a:solidFill>
                  </a:tcPr>
                </a:tc>
                <a:tc>
                  <a:txBody>
                    <a:bodyPr wrap="square"/>
                    <a:lstStyle/>
                    <a:p>
                      <a:pPr algn="ctr">
                        <a:defRPr sz="850" b="1">
                          <a:solidFill>
                            <a:srgbClr val="F8FAFC"/>
                          </a:solidFill>
                        </a:defRPr>
                      </a:pPr>
                      <a:r>
                        <a:t>Very High (4.8/5)</a:t>
                      </a:r>
                      <a:br/>
                      <a:r>
                        <a:t>Multiple clients &amp; LLMs</a:t>
                      </a:r>
                    </a:p>
                  </a:txBody>
                  <a:tcPr anchor="ctr" marL="73152" marR="73152" marT="45720" marB="45720">
                    <a:solidFill>
                      <a:srgbClr val="0D6E44"/>
                    </a:solidFill>
                  </a:tcPr>
                </a:tc>
                <a:tc>
                  <a:txBody>
                    <a:bodyPr wrap="square"/>
                    <a:lstStyle/>
                    <a:p>
                      <a:pPr algn="ctr">
                        <a:defRPr sz="850" b="1">
                          <a:solidFill>
                            <a:srgbClr val="F8FAFC"/>
                          </a:solidFill>
                        </a:defRPr>
                      </a:pPr>
                      <a:r>
                        <a:t>High ($12 - $15/mo)</a:t>
                      </a:r>
                      <a:br/>
                      <a:r>
                        <a:t>Billed as work expense</a:t>
                      </a:r>
                    </a:p>
                  </a:txBody>
                  <a:tcPr anchor="ctr" marL="73152" marR="73152" marT="45720" marB="45720">
                    <a:solidFill>
                      <a:srgbClr val="0D6E44"/>
                    </a:solidFill>
                  </a:tcPr>
                </a:tc>
                <a:tc>
                  <a:txBody>
                    <a:bodyPr wrap="square"/>
                    <a:lstStyle/>
                    <a:p>
                      <a:pPr algn="ctr">
                        <a:defRPr sz="850" b="1">
                          <a:solidFill>
                            <a:srgbClr val="F8FAFC"/>
                          </a:solidFill>
                        </a:defRPr>
                      </a:pPr>
                      <a:r>
                        <a:t>High (PLG Organic)</a:t>
                      </a:r>
                      <a:br/>
                      <a:r>
                        <a:t>Extension store search</a:t>
                      </a:r>
                    </a:p>
                  </a:txBody>
                  <a:tcPr anchor="ctr" marL="73152" marR="73152" marT="45720" marB="45720">
                    <a:solidFill>
                      <a:srgbClr val="148255"/>
                    </a:solidFill>
                  </a:tcPr>
                </a:tc>
                <a:tc>
                  <a:txBody>
                    <a:bodyPr wrap="square"/>
                    <a:lstStyle/>
                    <a:p>
                      <a:pPr algn="ctr">
                        <a:defRPr sz="850" b="1">
                          <a:solidFill>
                            <a:srgbClr val="F8FAFC"/>
                          </a:solidFill>
                        </a:defRPr>
                      </a:pPr>
                      <a:r>
                        <a:t>Low Churn (3.0%)</a:t>
                      </a:r>
                      <a:br/>
                      <a:r>
                        <a:t>Daily workflow dependency</a:t>
                      </a:r>
                    </a:p>
                  </a:txBody>
                  <a:tcPr anchor="ctr" marL="73152" marR="73152" marT="45720" marB="45720">
                    <a:solidFill>
                      <a:srgbClr val="23735F"/>
                    </a:solidFill>
                  </a:tcPr>
                </a:tc>
                <a:tc>
                  <a:txBody>
                    <a:bodyPr wrap="square"/>
                    <a:lstStyle/>
                    <a:p>
                      <a:pPr algn="ctr">
                        <a:defRPr sz="850" b="1">
                          <a:solidFill>
                            <a:srgbClr val="F8FAFC"/>
                          </a:solidFill>
                        </a:defRPr>
                      </a:pPr>
                      <a:r>
                        <a:t>Moderate</a:t>
                      </a:r>
                      <a:br/>
                      <a:r>
                        <a:t>Recommends to clients</a:t>
                      </a:r>
                    </a:p>
                  </a:txBody>
                  <a:tcPr anchor="ctr" marL="73152" marR="73152" marT="45720" marB="45720">
                    <a:solidFill>
                      <a:srgbClr val="B4690C"/>
                    </a:solidFill>
                  </a:tcPr>
                </a:tc>
                <a:tc>
                  <a:txBody>
                    <a:bodyPr wrap="square"/>
                    <a:lstStyle/>
                    <a:p>
                      <a:pPr algn="ctr">
                        <a:defRPr sz="850" b="1">
                          <a:solidFill>
                            <a:srgbClr val="F8FAFC"/>
                          </a:solidFill>
                        </a:defRPr>
                      </a:pPr>
                      <a:r>
                        <a:t>HIGH (Tier: Pro $12/mo)</a:t>
                      </a:r>
                      <a:br/>
                      <a:r>
                        <a:t>Immediate payback &amp; high LTV</a:t>
                      </a:r>
                    </a:p>
                  </a:txBody>
                  <a:tcPr anchor="ctr" marL="73152" marR="73152" marT="45720" marB="45720">
                    <a:solidFill>
                      <a:srgbClr val="148255"/>
                    </a:solidFill>
                  </a:tcPr>
                </a:tc>
              </a:tr>
              <a:tr h="655320">
                <a:tc>
                  <a:txBody>
                    <a:bodyPr wrap="square"/>
                    <a:lstStyle/>
                    <a:p>
                      <a:pPr algn="l">
                        <a:defRPr sz="900" b="1">
                          <a:solidFill>
                            <a:srgbClr val="F8FAFC"/>
                          </a:solidFill>
                        </a:defRPr>
                      </a:pPr>
                      <a:r>
                        <a:t>Scale-Up Teams (5-50 Devs)</a:t>
                      </a:r>
                      <a:br/>
                      <a:r>
                        <a:t>(Fast-paced AI software squads)</a:t>
                      </a:r>
                    </a:p>
                  </a:txBody>
                  <a:tcPr anchor="ctr" marL="73152" marR="73152" marT="45720" marB="45720">
                    <a:solidFill>
                      <a:srgbClr val="161B22"/>
                    </a:solidFill>
                  </a:tcPr>
                </a:tc>
                <a:tc>
                  <a:txBody>
                    <a:bodyPr wrap="square"/>
                    <a:lstStyle/>
                    <a:p>
                      <a:pPr algn="ctr">
                        <a:defRPr sz="850" b="1">
                          <a:solidFill>
                            <a:srgbClr val="F8FAFC"/>
                          </a:solidFill>
                        </a:defRPr>
                      </a:pPr>
                      <a:r>
                        <a:t>Extreme (4.9/5)</a:t>
                      </a:r>
                      <a:br/>
                      <a:r>
                        <a:t>Repo rules &amp; onboard drift</a:t>
                      </a:r>
                    </a:p>
                  </a:txBody>
                  <a:tcPr anchor="ctr" marL="73152" marR="73152" marT="45720" marB="45720">
                    <a:solidFill>
                      <a:srgbClr val="0D6E44"/>
                    </a:solidFill>
                  </a:tcPr>
                </a:tc>
                <a:tc>
                  <a:txBody>
                    <a:bodyPr wrap="square"/>
                    <a:lstStyle/>
                    <a:p>
                      <a:pPr algn="ctr">
                        <a:defRPr sz="850" b="1">
                          <a:solidFill>
                            <a:srgbClr val="F8FAFC"/>
                          </a:solidFill>
                        </a:defRPr>
                      </a:pPr>
                      <a:r>
                        <a:t>Very High ($25 - $35/seat)</a:t>
                      </a:r>
                      <a:br/>
                      <a:r>
                        <a:t>Corporate SaaS card</a:t>
                      </a:r>
                    </a:p>
                  </a:txBody>
                  <a:tcPr anchor="ctr" marL="73152" marR="73152" marT="45720" marB="45720">
                    <a:solidFill>
                      <a:srgbClr val="0D6E44"/>
                    </a:solidFill>
                  </a:tcPr>
                </a:tc>
                <a:tc>
                  <a:txBody>
                    <a:bodyPr wrap="square"/>
                    <a:lstStyle/>
                    <a:p>
                      <a:pPr algn="ctr">
                        <a:defRPr sz="850" b="1">
                          <a:solidFill>
                            <a:srgbClr val="F8FAFC"/>
                          </a:solidFill>
                        </a:defRPr>
                      </a:pPr>
                      <a:r>
                        <a:t>Very High (Viral)</a:t>
                      </a:r>
                      <a:br/>
                      <a:r>
                        <a:t>Dev leads invite squad</a:t>
                      </a:r>
                    </a:p>
                  </a:txBody>
                  <a:tcPr anchor="ctr" marL="73152" marR="73152" marT="45720" marB="45720">
                    <a:solidFill>
                      <a:srgbClr val="0D6E44"/>
                    </a:solidFill>
                  </a:tcPr>
                </a:tc>
                <a:tc>
                  <a:txBody>
                    <a:bodyPr wrap="square"/>
                    <a:lstStyle/>
                    <a:p>
                      <a:pPr algn="ctr">
                        <a:defRPr sz="850" b="1">
                          <a:solidFill>
                            <a:srgbClr val="F8FAFC"/>
                          </a:solidFill>
                        </a:defRPr>
                      </a:pPr>
                      <a:r>
                        <a:t>Very Low Churn (&lt;1.5%)</a:t>
                      </a:r>
                      <a:br/>
                      <a:r>
                        <a:t>Team repository lock-in</a:t>
                      </a:r>
                    </a:p>
                  </a:txBody>
                  <a:tcPr anchor="ctr" marL="73152" marR="73152" marT="45720" marB="45720">
                    <a:solidFill>
                      <a:srgbClr val="0D6E44"/>
                    </a:solidFill>
                  </a:tcPr>
                </a:tc>
                <a:tc>
                  <a:txBody>
                    <a:bodyPr wrap="square"/>
                    <a:lstStyle/>
                    <a:p>
                      <a:pPr algn="ctr">
                        <a:defRPr sz="850" b="1">
                          <a:solidFill>
                            <a:srgbClr val="F8FAFC"/>
                          </a:solidFill>
                        </a:defRPr>
                      </a:pPr>
                      <a:r>
                        <a:t>High Expansion</a:t>
                      </a:r>
                      <a:br/>
                      <a:r>
                        <a:t>Seats grow with hiring</a:t>
                      </a:r>
                    </a:p>
                  </a:txBody>
                  <a:tcPr anchor="ctr" marL="73152" marR="73152" marT="45720" marB="45720">
                    <a:solidFill>
                      <a:srgbClr val="0D6E44"/>
                    </a:solidFill>
                  </a:tcPr>
                </a:tc>
                <a:tc>
                  <a:txBody>
                    <a:bodyPr wrap="square"/>
                    <a:lstStyle/>
                    <a:p>
                      <a:pPr algn="ctr">
                        <a:defRPr sz="850" b="1">
                          <a:solidFill>
                            <a:srgbClr val="F8FAFC"/>
                          </a:solidFill>
                        </a:defRPr>
                      </a:pPr>
                      <a:r>
                        <a:t>PRIME TARGET (Tier: Team $28)</a:t>
                      </a:r>
                      <a:br/>
                      <a:r>
                        <a:t>Core ARR engine &amp; viral growth</a:t>
                      </a:r>
                    </a:p>
                  </a:txBody>
                  <a:tcPr anchor="ctr" marL="73152" marR="73152" marT="45720" marB="45720">
                    <a:solidFill>
                      <a:srgbClr val="0D6E44"/>
                    </a:solidFill>
                  </a:tcPr>
                </a:tc>
              </a:tr>
              <a:tr h="655320">
                <a:tc>
                  <a:txBody>
                    <a:bodyPr wrap="square"/>
                    <a:lstStyle/>
                    <a:p>
                      <a:pPr algn="l">
                        <a:defRPr sz="900" b="1">
                          <a:solidFill>
                            <a:srgbClr val="F8FAFC"/>
                          </a:solidFill>
                        </a:defRPr>
                      </a:pPr>
                      <a:r>
                        <a:t>Mid-Market Tech (50-250 Devs)</a:t>
                      </a:r>
                      <a:br/>
                      <a:r>
                        <a:t>(Standardized engineering orgs)</a:t>
                      </a:r>
                    </a:p>
                  </a:txBody>
                  <a:tcPr anchor="ctr" marL="73152" marR="73152" marT="45720" marB="45720">
                    <a:solidFill>
                      <a:srgbClr val="161B22"/>
                    </a:solidFill>
                  </a:tcPr>
                </a:tc>
                <a:tc>
                  <a:txBody>
                    <a:bodyPr wrap="square"/>
                    <a:lstStyle/>
                    <a:p>
                      <a:pPr algn="ctr">
                        <a:defRPr sz="850" b="1">
                          <a:solidFill>
                            <a:srgbClr val="F8FAFC"/>
                          </a:solidFill>
                        </a:defRPr>
                      </a:pPr>
                      <a:r>
                        <a:t>High (4.2/5)</a:t>
                      </a:r>
                      <a:br/>
                      <a:r>
                        <a:t>Engineering governance</a:t>
                      </a:r>
                    </a:p>
                  </a:txBody>
                  <a:tcPr anchor="ctr" marL="73152" marR="73152" marT="45720" marB="45720">
                    <a:solidFill>
                      <a:srgbClr val="148255"/>
                    </a:solidFill>
                  </a:tcPr>
                </a:tc>
                <a:tc>
                  <a:txBody>
                    <a:bodyPr wrap="square"/>
                    <a:lstStyle/>
                    <a:p>
                      <a:pPr algn="ctr">
                        <a:defRPr sz="850" b="1">
                          <a:solidFill>
                            <a:srgbClr val="F8FAFC"/>
                          </a:solidFill>
                        </a:defRPr>
                      </a:pPr>
                      <a:r>
                        <a:t>High ($20 - $28/seat)</a:t>
                      </a:r>
                      <a:br/>
                      <a:r>
                        <a:t>DevOps/Tools budget</a:t>
                      </a:r>
                    </a:p>
                  </a:txBody>
                  <a:tcPr anchor="ctr" marL="73152" marR="73152" marT="45720" marB="45720">
                    <a:solidFill>
                      <a:srgbClr val="148255"/>
                    </a:solidFill>
                  </a:tcPr>
                </a:tc>
                <a:tc>
                  <a:txBody>
                    <a:bodyPr wrap="square"/>
                    <a:lstStyle/>
                    <a:p>
                      <a:pPr algn="ctr">
                        <a:defRPr sz="850" b="1">
                          <a:solidFill>
                            <a:srgbClr val="F8FAFC"/>
                          </a:solidFill>
                        </a:defRPr>
                      </a:pPr>
                      <a:r>
                        <a:t>Moderate</a:t>
                      </a:r>
                      <a:br/>
                      <a:r>
                        <a:t>Requires security review</a:t>
                      </a:r>
                    </a:p>
                  </a:txBody>
                  <a:tcPr anchor="ctr" marL="73152" marR="73152" marT="45720" marB="45720">
                    <a:solidFill>
                      <a:srgbClr val="B4690C"/>
                    </a:solidFill>
                  </a:tcPr>
                </a:tc>
                <a:tc>
                  <a:txBody>
                    <a:bodyPr wrap="square"/>
                    <a:lstStyle/>
                    <a:p>
                      <a:pPr algn="ctr">
                        <a:defRPr sz="850" b="1">
                          <a:solidFill>
                            <a:srgbClr val="F8FAFC"/>
                          </a:solidFill>
                        </a:defRPr>
                      </a:pPr>
                      <a:r>
                        <a:t>Very Low Churn (&lt;1.0%)</a:t>
                      </a:r>
                      <a:br/>
                      <a:r>
                        <a:t>Annual team contracts</a:t>
                      </a:r>
                    </a:p>
                  </a:txBody>
                  <a:tcPr anchor="ctr" marL="73152" marR="73152" marT="45720" marB="45720">
                    <a:solidFill>
                      <a:srgbClr val="0D6E44"/>
                    </a:solidFill>
                  </a:tcPr>
                </a:tc>
                <a:tc>
                  <a:txBody>
                    <a:bodyPr wrap="square"/>
                    <a:lstStyle/>
                    <a:p>
                      <a:pPr algn="ctr">
                        <a:defRPr sz="850" b="1">
                          <a:solidFill>
                            <a:srgbClr val="F8FAFC"/>
                          </a:solidFill>
                        </a:defRPr>
                      </a:pPr>
                      <a:r>
                        <a:t>High Expansion</a:t>
                      </a:r>
                      <a:br/>
                      <a:r>
                        <a:t>Rollout across squads</a:t>
                      </a:r>
                    </a:p>
                  </a:txBody>
                  <a:tcPr anchor="ctr" marL="73152" marR="73152" marT="45720" marB="45720">
                    <a:solidFill>
                      <a:srgbClr val="148255"/>
                    </a:solidFill>
                  </a:tcPr>
                </a:tc>
                <a:tc>
                  <a:txBody>
                    <a:bodyPr wrap="square"/>
                    <a:lstStyle/>
                    <a:p>
                      <a:pPr algn="ctr">
                        <a:defRPr sz="850" b="1">
                          <a:solidFill>
                            <a:srgbClr val="F8FAFC"/>
                          </a:solidFill>
                        </a:defRPr>
                      </a:pPr>
                      <a:r>
                        <a:t>HIGH (Tier: Team/Enterprise)</a:t>
                      </a:r>
                      <a:br/>
                      <a:r>
                        <a:t>Stable recurring expansion</a:t>
                      </a:r>
                    </a:p>
                  </a:txBody>
                  <a:tcPr anchor="ctr" marL="73152" marR="73152" marT="45720" marB="45720">
                    <a:solidFill>
                      <a:srgbClr val="148255"/>
                    </a:solidFill>
                  </a:tcPr>
                </a:tc>
              </a:tr>
              <a:tr h="655320">
                <a:tc>
                  <a:txBody>
                    <a:bodyPr wrap="square"/>
                    <a:lstStyle/>
                    <a:p>
                      <a:pPr algn="l">
                        <a:defRPr sz="900" b="1">
                          <a:solidFill>
                            <a:srgbClr val="F8FAFC"/>
                          </a:solidFill>
                        </a:defRPr>
                      </a:pPr>
                      <a:r>
                        <a:t>Regulated Enterprise (250+)</a:t>
                      </a:r>
                      <a:br/>
                      <a:r>
                        <a:t>(Fintech, Health, Defense orgs)</a:t>
                      </a:r>
                    </a:p>
                  </a:txBody>
                  <a:tcPr anchor="ctr" marL="73152" marR="73152" marT="45720" marB="45720">
                    <a:solidFill>
                      <a:srgbClr val="161B22"/>
                    </a:solidFill>
                  </a:tcPr>
                </a:tc>
                <a:tc>
                  <a:txBody>
                    <a:bodyPr wrap="square"/>
                    <a:lstStyle/>
                    <a:p>
                      <a:pPr algn="ctr">
                        <a:defRPr sz="850" b="1">
                          <a:solidFill>
                            <a:srgbClr val="F8FAFC"/>
                          </a:solidFill>
                        </a:defRPr>
                      </a:pPr>
                      <a:r>
                        <a:t>Critical (4.7/5)</a:t>
                      </a:r>
                      <a:br/>
                      <a:r>
                        <a:t>Strict PII/Secret leaks</a:t>
                      </a:r>
                    </a:p>
                  </a:txBody>
                  <a:tcPr anchor="ctr" marL="73152" marR="73152" marT="45720" marB="45720">
                    <a:solidFill>
                      <a:srgbClr val="0D6E44"/>
                    </a:solidFill>
                  </a:tcPr>
                </a:tc>
                <a:tc>
                  <a:txBody>
                    <a:bodyPr wrap="square"/>
                    <a:lstStyle/>
                    <a:p>
                      <a:pPr algn="ctr">
                        <a:defRPr sz="850" b="1">
                          <a:solidFill>
                            <a:srgbClr val="F8FAFC"/>
                          </a:solidFill>
                        </a:defRPr>
                      </a:pPr>
                      <a:r>
                        <a:t>Extreme ($50+/seat)</a:t>
                      </a:r>
                      <a:br/>
                      <a:r>
                        <a:t>Dedicated IT budget</a:t>
                      </a:r>
                    </a:p>
                  </a:txBody>
                  <a:tcPr anchor="ctr" marL="73152" marR="73152" marT="45720" marB="45720">
                    <a:solidFill>
                      <a:srgbClr val="0D6E44"/>
                    </a:solidFill>
                  </a:tcPr>
                </a:tc>
                <a:tc>
                  <a:txBody>
                    <a:bodyPr wrap="square"/>
                    <a:lstStyle/>
                    <a:p>
                      <a:pPr algn="ctr">
                        <a:defRPr sz="850" b="1">
                          <a:solidFill>
                            <a:srgbClr val="F8FAFC"/>
                          </a:solidFill>
                        </a:defRPr>
                      </a:pPr>
                      <a:r>
                        <a:t>Low (6-9 mo sales)</a:t>
                      </a:r>
                      <a:br/>
                      <a:r>
                        <a:t>Heavy procurement drag</a:t>
                      </a:r>
                    </a:p>
                  </a:txBody>
                  <a:tcPr anchor="ctr" marL="73152" marR="73152" marT="45720" marB="45720">
                    <a:solidFill>
                      <a:srgbClr val="9B2D2D"/>
                    </a:solidFill>
                  </a:tcPr>
                </a:tc>
                <a:tc>
                  <a:txBody>
                    <a:bodyPr wrap="square"/>
                    <a:lstStyle/>
                    <a:p>
                      <a:pPr algn="ctr">
                        <a:defRPr sz="850" b="1">
                          <a:solidFill>
                            <a:srgbClr val="F8FAFC"/>
                          </a:solidFill>
                        </a:defRPr>
                      </a:pPr>
                      <a:r>
                        <a:t>Near Zero (&lt;0.5%)</a:t>
                      </a:r>
                      <a:br/>
                      <a:r>
                        <a:t>Multi-year enterprise SLA</a:t>
                      </a:r>
                    </a:p>
                  </a:txBody>
                  <a:tcPr anchor="ctr" marL="73152" marR="73152" marT="45720" marB="45720">
                    <a:solidFill>
                      <a:srgbClr val="0D6E44"/>
                    </a:solidFill>
                  </a:tcPr>
                </a:tc>
                <a:tc>
                  <a:txBody>
                    <a:bodyPr wrap="square"/>
                    <a:lstStyle/>
                    <a:p>
                      <a:pPr algn="ctr">
                        <a:defRPr sz="850" b="1">
                          <a:solidFill>
                            <a:srgbClr val="F8FAFC"/>
                          </a:solidFill>
                        </a:defRPr>
                      </a:pPr>
                      <a:r>
                        <a:t>High Account Expansion</a:t>
                      </a:r>
                      <a:br/>
                      <a:r>
                        <a:t>Cross-division deployment</a:t>
                      </a:r>
                    </a:p>
                  </a:txBody>
                  <a:tcPr anchor="ctr" marL="73152" marR="73152" marT="45720" marB="45720">
                    <a:solidFill>
                      <a:srgbClr val="148255"/>
                    </a:solidFill>
                  </a:tcPr>
                </a:tc>
                <a:tc>
                  <a:txBody>
                    <a:bodyPr wrap="square"/>
                    <a:lstStyle/>
                    <a:p>
                      <a:pPr algn="ctr">
                        <a:defRPr sz="850" b="1">
                          <a:solidFill>
                            <a:srgbClr val="F8FAFC"/>
                          </a:solidFill>
                        </a:defRPr>
                      </a:pPr>
                      <a:r>
                        <a:t>SELECTIVE (Tier: Enterprise)</a:t>
                      </a:r>
                      <a:br/>
                      <a:r>
                        <a:t>Phase 3 self-hosted opportunity</a:t>
                      </a:r>
                    </a:p>
                  </a:txBody>
                  <a:tcPr anchor="ctr" marL="73152" marR="73152" marT="45720" marB="45720">
                    <a:solidFill>
                      <a:srgbClr val="B4690C"/>
                    </a:solidFill>
                  </a:tcPr>
                </a:tc>
              </a:tr>
            </a:tbl>
          </a:graphicData>
        </a:graphic>
      </p:graphicFrame>
      <p:sp>
        <p:nvSpPr>
          <p:cNvPr id="8" name="Rounded Rectangle 7"/>
          <p:cNvSpPr/>
          <p:nvPr/>
        </p:nvSpPr>
        <p:spPr>
          <a:xfrm>
            <a:off x="731520" y="5532120"/>
            <a:ext cx="10728655" cy="868680"/>
          </a:xfrm>
          <a:prstGeom prst="roundRect">
            <a:avLst/>
          </a:prstGeom>
          <a:solidFill>
            <a:srgbClr val="141A24"/>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77840"/>
            <a:ext cx="10332720" cy="777240"/>
          </a:xfrm>
          <a:prstGeom prst="rect">
            <a:avLst/>
          </a:prstGeom>
          <a:noFill/>
        </p:spPr>
        <p:txBody>
          <a:bodyPr wrap="square">
            <a:spAutoFit/>
          </a:bodyPr>
          <a:lstStyle/>
          <a:p>
            <a:pPr>
              <a:defRPr sz="1000" b="1">
                <a:solidFill>
                  <a:srgbClr val="10B981"/>
                </a:solidFill>
              </a:defRPr>
            </a:pPr>
            <a:r>
              <a:t>STRATEGIC TAKEAWAY FROM HEAT MAP: </a:t>
            </a:r>
            <a:r>
              <a:rPr b="0">
                <a:solidFill>
                  <a:srgbClr val="F8FAFC"/>
                </a:solidFill>
              </a:rPr>
              <a:t>The commercial sweet spot is dual-pronged: (1) Solo Power Contractors ($12/mo Pro) via frictionless Chrome Extension conversion, and (2) Scale-Up Engineering Teams ($28/seat Team) who need team-wide .cursorrules and CLAUDE.md convention sync. Indie hackers serve as the viral zero-CAC distribution channel.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56032"/>
          </a:xfrm>
          <a:prstGeom prst="rect">
            <a:avLst/>
          </a:prstGeom>
          <a:noFill/>
        </p:spPr>
        <p:txBody>
          <a:bodyPr wrap="square" lIns="0" tIns="0" rIns="0" bIns="0">
            <a:spAutoFit/>
          </a:bodyPr>
          <a:lstStyle/>
          <a:p>
            <a:pPr>
              <a:defRPr sz="1000" b="1">
                <a:solidFill>
                  <a:srgbClr val="0EA5E9"/>
                </a:solidFill>
              </a:defRPr>
            </a:pPr>
            <a:r>
              <a:t>SAAS PRICING &amp; MONETIZATION MODEL</a:t>
            </a:r>
          </a:p>
        </p:txBody>
      </p:sp>
      <p:sp>
        <p:nvSpPr>
          <p:cNvPr id="4" name="TextBox 3"/>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defRPr>
            </a:pPr>
            <a:r>
              <a:t>Revenue Engine: Grounded 4-Tier Subscription Architecture</a:t>
            </a:r>
          </a:p>
        </p:txBody>
      </p:sp>
      <p:sp>
        <p:nvSpPr>
          <p:cNvPr id="5" name="TextBox 4"/>
          <p:cNvSpPr txBox="1"/>
          <p:nvPr/>
        </p:nvSpPr>
        <p:spPr>
          <a:xfrm>
            <a:off x="10698480" y="365760"/>
            <a:ext cx="822960" cy="274320"/>
          </a:xfrm>
          <a:prstGeom prst="rect">
            <a:avLst/>
          </a:prstGeom>
          <a:noFill/>
        </p:spPr>
        <p:txBody>
          <a:bodyPr wrap="none">
            <a:spAutoFit/>
          </a:bodyPr>
          <a:lstStyle/>
          <a:p>
            <a:pPr algn="r">
              <a:defRPr sz="1000" b="1">
                <a:solidFill>
                  <a:srgbClr val="64748B"/>
                </a:solidFill>
              </a:defRPr>
            </a:pPr>
            <a:r>
              <a:t>05 / 10</a:t>
            </a:r>
          </a:p>
        </p:txBody>
      </p:sp>
      <p:sp>
        <p:nvSpPr>
          <p:cNvPr id="6" name="Rectangle 5"/>
          <p:cNvSpPr/>
          <p:nvPr/>
        </p:nvSpPr>
        <p:spPr>
          <a:xfrm>
            <a:off x="731520" y="1188720"/>
            <a:ext cx="10728655"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371600"/>
            <a:ext cx="2514600" cy="49377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25146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508760"/>
            <a:ext cx="2185416" cy="1188720"/>
          </a:xfrm>
          <a:prstGeom prst="rect">
            <a:avLst/>
          </a:prstGeom>
          <a:noFill/>
        </p:spPr>
        <p:txBody>
          <a:bodyPr wrap="square" lIns="0" tIns="0" rIns="0" bIns="0">
            <a:spAutoFit/>
          </a:bodyPr>
          <a:lstStyle/>
          <a:p>
            <a:pPr>
              <a:defRPr sz="1300" b="1">
                <a:solidFill>
                  <a:srgbClr val="0EA5E9"/>
                </a:solidFill>
              </a:defRPr>
            </a:pPr>
            <a:r>
              <a:t>COMMUNITY</a:t>
            </a:r>
          </a:p>
          <a:p>
            <a:pPr>
              <a:defRPr sz="2600" b="1">
                <a:solidFill>
                  <a:srgbClr val="F8FAFC"/>
                </a:solidFill>
              </a:defRPr>
            </a:pPr>
            <a:r>
              <a:t>$0</a:t>
            </a:r>
          </a:p>
          <a:p>
            <a:pPr>
              <a:spcAft>
                <a:spcPts val="400"/>
              </a:spcAft>
              <a:defRPr sz="850">
                <a:solidFill>
                  <a:srgbClr val="64748B"/>
                </a:solidFill>
              </a:defRPr>
            </a:pPr>
            <a:r>
              <a:t>Forever Free</a:t>
            </a:r>
          </a:p>
          <a:p>
            <a:pPr>
              <a:defRPr sz="850" b="1">
                <a:solidFill>
                  <a:srgbClr val="94A3B8"/>
                </a:solidFill>
              </a:defRPr>
            </a:pPr>
            <a:r>
              <a:t>Target: Indie developers &amp; hobbyists</a:t>
            </a:r>
          </a:p>
        </p:txBody>
      </p:sp>
      <p:sp>
        <p:nvSpPr>
          <p:cNvPr id="10" name="Rectangle 9"/>
          <p:cNvSpPr/>
          <p:nvPr/>
        </p:nvSpPr>
        <p:spPr>
          <a:xfrm>
            <a:off x="896112" y="2788920"/>
            <a:ext cx="2185416"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926080"/>
            <a:ext cx="2185416" cy="2743200"/>
          </a:xfrm>
          <a:prstGeom prst="rect">
            <a:avLst/>
          </a:prstGeom>
          <a:noFill/>
        </p:spPr>
        <p:txBody>
          <a:bodyPr wrap="square" lIns="0" tIns="0" rIns="0" bIns="0">
            <a:spAutoFit/>
          </a:bodyPr>
          <a:lstStyle/>
          <a:p>
            <a:pPr>
              <a:spcAft>
                <a:spcPts val="600"/>
              </a:spcAft>
              <a:defRPr sz="900" b="1">
                <a:solidFill>
                  <a:srgbClr val="F8FAFC"/>
                </a:solidFill>
              </a:defRPr>
            </a:pPr>
            <a:r>
              <a:t>✓ Local-First Vault: </a:t>
            </a:r>
            <a:r>
              <a:rPr b="0">
                <a:solidFill>
                  <a:srgbClr val="94A3B8"/>
                </a:solidFill>
              </a:rPr>
              <a:t>Full offline SQLite storage (ums_vault.db)</a:t>
            </a:r>
          </a:p>
          <a:p>
            <a:pPr>
              <a:spcAft>
                <a:spcPts val="600"/>
              </a:spcAft>
              <a:defRPr sz="900" b="1">
                <a:solidFill>
                  <a:srgbClr val="F8FAFC"/>
                </a:solidFill>
              </a:defRPr>
            </a:pPr>
            <a:r>
              <a:t>✓ Headless CLI: </a:t>
            </a:r>
            <a:r>
              <a:rPr b="0">
                <a:solidFill>
                  <a:srgbClr val="94A3B8"/>
                </a:solidFill>
              </a:rPr>
              <a:t>Standard extract, parse, and verify CLI</a:t>
            </a:r>
          </a:p>
          <a:p>
            <a:pPr>
              <a:spcAft>
                <a:spcPts val="600"/>
              </a:spcAft>
              <a:defRPr sz="900" b="1">
                <a:solidFill>
                  <a:srgbClr val="F8FAFC"/>
                </a:solidFill>
              </a:defRPr>
            </a:pPr>
            <a:r>
              <a:t>✓ Single Browser: </a:t>
            </a:r>
            <a:r>
              <a:rPr b="0">
                <a:solidFill>
                  <a:srgbClr val="94A3B8"/>
                </a:solidFill>
              </a:rPr>
              <a:t>Chrome extension active tab inspector</a:t>
            </a:r>
          </a:p>
          <a:p>
            <a:pPr>
              <a:spcAft>
                <a:spcPts val="600"/>
              </a:spcAft>
              <a:defRPr sz="900" b="1">
                <a:solidFill>
                  <a:srgbClr val="F8FAFC"/>
                </a:solidFill>
              </a:defRPr>
            </a:pPr>
            <a:r>
              <a:t>✓ Manual Export/Import: </a:t>
            </a:r>
            <a:r>
              <a:rPr b="0">
                <a:solidFill>
                  <a:srgbClr val="94A3B8"/>
                </a:solidFill>
              </a:rPr>
              <a:t>Export persona.ums.json manually</a:t>
            </a:r>
          </a:p>
          <a:p>
            <a:pPr>
              <a:spcAft>
                <a:spcPts val="600"/>
              </a:spcAft>
              <a:defRPr sz="900" b="1">
                <a:solidFill>
                  <a:srgbClr val="F8FAFC"/>
                </a:solidFill>
              </a:defRPr>
            </a:pPr>
            <a:r>
              <a:t>✓ Zero Cloud Sync: </a:t>
            </a:r>
            <a:r>
              <a:rPr b="0">
                <a:solidFill>
                  <a:srgbClr val="94A3B8"/>
                </a:solidFill>
              </a:rPr>
              <a:t>Single machine only; zero server footprint</a:t>
            </a:r>
          </a:p>
          <a:p>
            <a:pPr>
              <a:spcAft>
                <a:spcPts val="600"/>
              </a:spcAft>
              <a:defRPr sz="900" b="1">
                <a:solidFill>
                  <a:srgbClr val="F8FAFC"/>
                </a:solidFill>
              </a:defRPr>
            </a:pPr>
            <a:r>
              <a:t>✓ Community Support: </a:t>
            </a:r>
            <a:r>
              <a:rPr b="0">
                <a:solidFill>
                  <a:srgbClr val="94A3B8"/>
                </a:solidFill>
              </a:rPr>
              <a:t>GitHub Issues &amp; open community</a:t>
            </a:r>
          </a:p>
        </p:txBody>
      </p:sp>
      <p:sp>
        <p:nvSpPr>
          <p:cNvPr id="12" name="Rounded Rectangle 11"/>
          <p:cNvSpPr/>
          <p:nvPr/>
        </p:nvSpPr>
        <p:spPr>
          <a:xfrm>
            <a:off x="896112" y="5806440"/>
            <a:ext cx="2185416" cy="320040"/>
          </a:xfrm>
          <a:prstGeom prst="roundRect">
            <a:avLst/>
          </a:prstGeom>
          <a:solidFill>
            <a:srgbClr val="121822"/>
          </a:solidFill>
          <a:ln w="9525">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833872"/>
            <a:ext cx="2148840" cy="274320"/>
          </a:xfrm>
          <a:prstGeom prst="rect">
            <a:avLst/>
          </a:prstGeom>
          <a:noFill/>
        </p:spPr>
        <p:txBody>
          <a:bodyPr wrap="none">
            <a:spAutoFit/>
          </a:bodyPr>
          <a:lstStyle/>
          <a:p>
            <a:pPr algn="ctr">
              <a:defRPr sz="800" b="1">
                <a:solidFill>
                  <a:srgbClr val="0EA5E9"/>
                </a:solidFill>
              </a:defRPr>
            </a:pPr>
            <a:r>
              <a:t>TOP-OF-FUNNEL FLYWHEEL</a:t>
            </a:r>
          </a:p>
        </p:txBody>
      </p:sp>
      <p:sp>
        <p:nvSpPr>
          <p:cNvPr id="14" name="Rounded Rectangle 13"/>
          <p:cNvSpPr/>
          <p:nvPr/>
        </p:nvSpPr>
        <p:spPr>
          <a:xfrm>
            <a:off x="3465576" y="1371600"/>
            <a:ext cx="2514600" cy="49377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65576" y="1371600"/>
            <a:ext cx="25146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1508760"/>
            <a:ext cx="2185416" cy="1188720"/>
          </a:xfrm>
          <a:prstGeom prst="rect">
            <a:avLst/>
          </a:prstGeom>
          <a:noFill/>
        </p:spPr>
        <p:txBody>
          <a:bodyPr wrap="square" lIns="0" tIns="0" rIns="0" bIns="0">
            <a:spAutoFit/>
          </a:bodyPr>
          <a:lstStyle/>
          <a:p>
            <a:pPr>
              <a:defRPr sz="1300" b="1">
                <a:solidFill>
                  <a:srgbClr val="10B981"/>
                </a:solidFill>
              </a:defRPr>
            </a:pPr>
            <a:r>
              <a:t>RELAY PRO</a:t>
            </a:r>
          </a:p>
          <a:p>
            <a:pPr>
              <a:defRPr sz="2600" b="1">
                <a:solidFill>
                  <a:srgbClr val="F8FAFC"/>
                </a:solidFill>
              </a:defRPr>
            </a:pPr>
            <a:r>
              <a:t>$12</a:t>
            </a:r>
          </a:p>
          <a:p>
            <a:pPr>
              <a:spcAft>
                <a:spcPts val="400"/>
              </a:spcAft>
              <a:defRPr sz="850">
                <a:solidFill>
                  <a:srgbClr val="64748B"/>
                </a:solidFill>
              </a:defRPr>
            </a:pPr>
            <a:r>
              <a:t>per user / mo ($120/yr)</a:t>
            </a:r>
          </a:p>
          <a:p>
            <a:pPr>
              <a:defRPr sz="850" b="1">
                <a:solidFill>
                  <a:srgbClr val="94A3B8"/>
                </a:solidFill>
              </a:defRPr>
            </a:pPr>
            <a:r>
              <a:t>Target: Senior devs, power contractors</a:t>
            </a:r>
          </a:p>
        </p:txBody>
      </p:sp>
      <p:sp>
        <p:nvSpPr>
          <p:cNvPr id="17" name="Rectangle 16"/>
          <p:cNvSpPr/>
          <p:nvPr/>
        </p:nvSpPr>
        <p:spPr>
          <a:xfrm>
            <a:off x="3630168" y="2788920"/>
            <a:ext cx="2185416"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30168" y="2926080"/>
            <a:ext cx="2185416" cy="2743200"/>
          </a:xfrm>
          <a:prstGeom prst="rect">
            <a:avLst/>
          </a:prstGeom>
          <a:noFill/>
        </p:spPr>
        <p:txBody>
          <a:bodyPr wrap="square" lIns="0" tIns="0" rIns="0" bIns="0">
            <a:spAutoFit/>
          </a:bodyPr>
          <a:lstStyle/>
          <a:p>
            <a:pPr>
              <a:spcAft>
                <a:spcPts val="600"/>
              </a:spcAft>
              <a:defRPr sz="900" b="1">
                <a:solidFill>
                  <a:srgbClr val="F8FAFC"/>
                </a:solidFill>
              </a:defRPr>
            </a:pPr>
            <a:r>
              <a:t>✓ Encrypted Cloud Sync: </a:t>
            </a:r>
            <a:r>
              <a:rPr b="0">
                <a:solidFill>
                  <a:srgbClr val="94A3B8"/>
                </a:solidFill>
              </a:rPr>
              <a:t>End-to-end encrypted multi-device relay</a:t>
            </a:r>
          </a:p>
          <a:p>
            <a:pPr>
              <a:spcAft>
                <a:spcPts val="600"/>
              </a:spcAft>
              <a:defRPr sz="900" b="1">
                <a:solidFill>
                  <a:srgbClr val="F8FAFC"/>
                </a:solidFill>
              </a:defRPr>
            </a:pPr>
            <a:r>
              <a:t>✓ 1-Click Tab Handoff: </a:t>
            </a:r>
            <a:r>
              <a:rPr b="0">
                <a:solidFill>
                  <a:srgbClr val="94A3B8"/>
                </a:solidFill>
              </a:rPr>
              <a:t>Seamlessly migrate active Claude to ChatGPT</a:t>
            </a:r>
          </a:p>
          <a:p>
            <a:pPr>
              <a:spcAft>
                <a:spcPts val="600"/>
              </a:spcAft>
              <a:defRPr sz="900" b="1">
                <a:solidFill>
                  <a:srgbClr val="F8FAFC"/>
                </a:solidFill>
              </a:defRPr>
            </a:pPr>
            <a:r>
              <a:t>✓ Semantic Diff Engine: </a:t>
            </a:r>
            <a:r>
              <a:rPr b="0">
                <a:solidFill>
                  <a:srgbClr val="94A3B8"/>
                </a:solidFill>
              </a:rPr>
              <a:t>Automated verification score &amp; memory diff</a:t>
            </a:r>
          </a:p>
          <a:p>
            <a:pPr>
              <a:spcAft>
                <a:spcPts val="600"/>
              </a:spcAft>
              <a:defRPr sz="900" b="1">
                <a:solidFill>
                  <a:srgbClr val="F8FAFC"/>
                </a:solidFill>
              </a:defRPr>
            </a:pPr>
            <a:r>
              <a:t>✓ Unlimited Snapshots: </a:t>
            </a:r>
            <a:r>
              <a:rPr b="0">
                <a:solidFill>
                  <a:srgbClr val="94A3B8"/>
                </a:solidFill>
              </a:rPr>
              <a:t>Full version history &amp; instant rollback</a:t>
            </a:r>
          </a:p>
          <a:p>
            <a:pPr>
              <a:spcAft>
                <a:spcPts val="600"/>
              </a:spcAft>
              <a:defRPr sz="900" b="1">
                <a:solidFill>
                  <a:srgbClr val="F8FAFC"/>
                </a:solidFill>
              </a:defRPr>
            </a:pPr>
            <a:r>
              <a:t>✓ Priority Connectors: </a:t>
            </a:r>
            <a:r>
              <a:rPr b="0">
                <a:solidFill>
                  <a:srgbClr val="94A3B8"/>
                </a:solidFill>
              </a:rPr>
              <a:t>Fast updates when OpenAI/Anthropic changes</a:t>
            </a:r>
          </a:p>
          <a:p>
            <a:pPr>
              <a:spcAft>
                <a:spcPts val="600"/>
              </a:spcAft>
              <a:defRPr sz="900" b="1">
                <a:solidFill>
                  <a:srgbClr val="F8FAFC"/>
                </a:solidFill>
              </a:defRPr>
            </a:pPr>
            <a:r>
              <a:t>✓ Email &amp; Chat Support: </a:t>
            </a:r>
            <a:r>
              <a:rPr b="0">
                <a:solidFill>
                  <a:srgbClr val="94A3B8"/>
                </a:solidFill>
              </a:rPr>
              <a:t>&lt; 24-hr turnaround on adapter issues</a:t>
            </a:r>
          </a:p>
        </p:txBody>
      </p:sp>
      <p:sp>
        <p:nvSpPr>
          <p:cNvPr id="19" name="Rounded Rectangle 18"/>
          <p:cNvSpPr/>
          <p:nvPr/>
        </p:nvSpPr>
        <p:spPr>
          <a:xfrm>
            <a:off x="3630168" y="5806440"/>
            <a:ext cx="2185416" cy="320040"/>
          </a:xfrm>
          <a:prstGeom prst="roundRect">
            <a:avLst/>
          </a:prstGeom>
          <a:solidFill>
            <a:srgbClr val="121822"/>
          </a:solidFill>
          <a:ln w="9525">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48456" y="5833872"/>
            <a:ext cx="2148840" cy="274320"/>
          </a:xfrm>
          <a:prstGeom prst="rect">
            <a:avLst/>
          </a:prstGeom>
          <a:noFill/>
        </p:spPr>
        <p:txBody>
          <a:bodyPr wrap="none">
            <a:spAutoFit/>
          </a:bodyPr>
          <a:lstStyle/>
          <a:p>
            <a:pPr algn="ctr">
              <a:defRPr sz="800" b="1">
                <a:solidFill>
                  <a:srgbClr val="10B981"/>
                </a:solidFill>
              </a:defRPr>
            </a:pPr>
            <a:r>
              <a:t>HIGH-CONVERTING PLG HOOK</a:t>
            </a:r>
          </a:p>
        </p:txBody>
      </p:sp>
      <p:sp>
        <p:nvSpPr>
          <p:cNvPr id="21" name="Rounded Rectangle 20"/>
          <p:cNvSpPr/>
          <p:nvPr/>
        </p:nvSpPr>
        <p:spPr>
          <a:xfrm>
            <a:off x="6199632" y="1371600"/>
            <a:ext cx="2514600" cy="49377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1371600"/>
            <a:ext cx="25146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1508760"/>
            <a:ext cx="2185416" cy="1188720"/>
          </a:xfrm>
          <a:prstGeom prst="rect">
            <a:avLst/>
          </a:prstGeom>
          <a:noFill/>
        </p:spPr>
        <p:txBody>
          <a:bodyPr wrap="square" lIns="0" tIns="0" rIns="0" bIns="0">
            <a:spAutoFit/>
          </a:bodyPr>
          <a:lstStyle/>
          <a:p>
            <a:pPr>
              <a:defRPr sz="1300" b="1">
                <a:solidFill>
                  <a:srgbClr val="F59E0B"/>
                </a:solidFill>
              </a:defRPr>
            </a:pPr>
            <a:r>
              <a:t>RELAY TEAM</a:t>
            </a:r>
          </a:p>
          <a:p>
            <a:pPr>
              <a:defRPr sz="2600" b="1">
                <a:solidFill>
                  <a:srgbClr val="F8FAFC"/>
                </a:solidFill>
              </a:defRPr>
            </a:pPr>
            <a:r>
              <a:t>$28</a:t>
            </a:r>
          </a:p>
          <a:p>
            <a:pPr>
              <a:spcAft>
                <a:spcPts val="400"/>
              </a:spcAft>
              <a:defRPr sz="850">
                <a:solidFill>
                  <a:srgbClr val="64748B"/>
                </a:solidFill>
              </a:defRPr>
            </a:pPr>
            <a:r>
              <a:t>per seat / mo (min 5 seats)</a:t>
            </a:r>
          </a:p>
          <a:p>
            <a:pPr>
              <a:defRPr sz="850" b="1">
                <a:solidFill>
                  <a:srgbClr val="94A3B8"/>
                </a:solidFill>
              </a:defRPr>
            </a:pPr>
            <a:r>
              <a:t>Target: Fast-growing engineering teams</a:t>
            </a:r>
          </a:p>
        </p:txBody>
      </p:sp>
      <p:sp>
        <p:nvSpPr>
          <p:cNvPr id="24" name="Rectangle 23"/>
          <p:cNvSpPr/>
          <p:nvPr/>
        </p:nvSpPr>
        <p:spPr>
          <a:xfrm>
            <a:off x="6364224" y="2788920"/>
            <a:ext cx="2185416"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4224" y="2926080"/>
            <a:ext cx="2185416" cy="2743200"/>
          </a:xfrm>
          <a:prstGeom prst="rect">
            <a:avLst/>
          </a:prstGeom>
          <a:noFill/>
        </p:spPr>
        <p:txBody>
          <a:bodyPr wrap="square" lIns="0" tIns="0" rIns="0" bIns="0">
            <a:spAutoFit/>
          </a:bodyPr>
          <a:lstStyle/>
          <a:p>
            <a:pPr>
              <a:spcAft>
                <a:spcPts val="600"/>
              </a:spcAft>
              <a:defRPr sz="900" b="1">
                <a:solidFill>
                  <a:srgbClr val="F8FAFC"/>
                </a:solidFill>
              </a:defRPr>
            </a:pPr>
            <a:r>
              <a:t>✓ Shared Team Vault: </a:t>
            </a:r>
            <a:r>
              <a:rPr b="0">
                <a:solidFill>
                  <a:srgbClr val="94A3B8"/>
                </a:solidFill>
              </a:rPr>
              <a:t>Synchronize team coding standards across devs</a:t>
            </a:r>
          </a:p>
          <a:p>
            <a:pPr>
              <a:spcAft>
                <a:spcPts val="600"/>
              </a:spcAft>
              <a:defRPr sz="900" b="1">
                <a:solidFill>
                  <a:srgbClr val="F8FAFC"/>
                </a:solidFill>
              </a:defRPr>
            </a:pPr>
            <a:r>
              <a:t>✓ .cursorrules Sync: </a:t>
            </a:r>
            <a:r>
              <a:rPr b="0">
                <a:solidFill>
                  <a:srgbClr val="94A3B8"/>
                </a:solidFill>
              </a:rPr>
              <a:t>Centralized CLAUDE.md / AGENTS.md sync</a:t>
            </a:r>
          </a:p>
          <a:p>
            <a:pPr>
              <a:spcAft>
                <a:spcPts val="600"/>
              </a:spcAft>
              <a:defRPr sz="900" b="1">
                <a:solidFill>
                  <a:srgbClr val="F8FAFC"/>
                </a:solidFill>
              </a:defRPr>
            </a:pPr>
            <a:r>
              <a:t>✓ Secret Redaction Filter: </a:t>
            </a:r>
            <a:r>
              <a:rPr b="0">
                <a:solidFill>
                  <a:srgbClr val="94A3B8"/>
                </a:solidFill>
              </a:rPr>
              <a:t>Scrub API keys &amp; PII before provider ingest</a:t>
            </a:r>
          </a:p>
          <a:p>
            <a:pPr>
              <a:spcAft>
                <a:spcPts val="600"/>
              </a:spcAft>
              <a:defRPr sz="900" b="1">
                <a:solidFill>
                  <a:srgbClr val="F8FAFC"/>
                </a:solidFill>
              </a:defRPr>
            </a:pPr>
            <a:r>
              <a:t>✓ Role-Based Access: </a:t>
            </a:r>
            <a:r>
              <a:rPr b="0">
                <a:solidFill>
                  <a:srgbClr val="94A3B8"/>
                </a:solidFill>
              </a:rPr>
              <a:t>Admin, Tech Lead, and Member permissions</a:t>
            </a:r>
          </a:p>
          <a:p>
            <a:pPr>
              <a:spcAft>
                <a:spcPts val="600"/>
              </a:spcAft>
              <a:defRPr sz="900" b="1">
                <a:solidFill>
                  <a:srgbClr val="F8FAFC"/>
                </a:solidFill>
              </a:defRPr>
            </a:pPr>
            <a:r>
              <a:t>✓ Team Audit Logs: </a:t>
            </a:r>
            <a:r>
              <a:rPr b="0">
                <a:solidFill>
                  <a:srgbClr val="94A3B8"/>
                </a:solidFill>
              </a:rPr>
              <a:t>Track who pushed rule updates and when</a:t>
            </a:r>
          </a:p>
          <a:p>
            <a:pPr>
              <a:spcAft>
                <a:spcPts val="600"/>
              </a:spcAft>
              <a:defRPr sz="900" b="1">
                <a:solidFill>
                  <a:srgbClr val="F8FAFC"/>
                </a:solidFill>
              </a:defRPr>
            </a:pPr>
            <a:r>
              <a:t>✓ Priority Support: </a:t>
            </a:r>
            <a:r>
              <a:rPr b="0">
                <a:solidFill>
                  <a:srgbClr val="94A3B8"/>
                </a:solidFill>
              </a:rPr>
              <a:t>Dedicated Slack/Discord private channel</a:t>
            </a:r>
          </a:p>
        </p:txBody>
      </p:sp>
      <p:sp>
        <p:nvSpPr>
          <p:cNvPr id="26" name="Rounded Rectangle 25"/>
          <p:cNvSpPr/>
          <p:nvPr/>
        </p:nvSpPr>
        <p:spPr>
          <a:xfrm>
            <a:off x="6364224" y="5806440"/>
            <a:ext cx="2185416" cy="320040"/>
          </a:xfrm>
          <a:prstGeom prst="roundRect">
            <a:avLst/>
          </a:prstGeom>
          <a:solidFill>
            <a:srgbClr val="121822"/>
          </a:solidFill>
          <a:ln w="9525">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5833872"/>
            <a:ext cx="2148840" cy="274320"/>
          </a:xfrm>
          <a:prstGeom prst="rect">
            <a:avLst/>
          </a:prstGeom>
          <a:noFill/>
        </p:spPr>
        <p:txBody>
          <a:bodyPr wrap="none">
            <a:spAutoFit/>
          </a:bodyPr>
          <a:lstStyle/>
          <a:p>
            <a:pPr algn="ctr">
              <a:defRPr sz="800" b="1">
                <a:solidFill>
                  <a:srgbClr val="F59E0B"/>
                </a:solidFill>
              </a:defRPr>
            </a:pPr>
            <a:r>
              <a:t>CORE EXPANSION REVENUE</a:t>
            </a:r>
          </a:p>
        </p:txBody>
      </p:sp>
      <p:sp>
        <p:nvSpPr>
          <p:cNvPr id="28" name="Rounded Rectangle 27"/>
          <p:cNvSpPr/>
          <p:nvPr/>
        </p:nvSpPr>
        <p:spPr>
          <a:xfrm>
            <a:off x="8933688" y="1371600"/>
            <a:ext cx="2514600" cy="49377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33688" y="1371600"/>
            <a:ext cx="2514600" cy="36576"/>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98280" y="1508760"/>
            <a:ext cx="2185416" cy="1188720"/>
          </a:xfrm>
          <a:prstGeom prst="rect">
            <a:avLst/>
          </a:prstGeom>
          <a:noFill/>
        </p:spPr>
        <p:txBody>
          <a:bodyPr wrap="square" lIns="0" tIns="0" rIns="0" bIns="0">
            <a:spAutoFit/>
          </a:bodyPr>
          <a:lstStyle/>
          <a:p>
            <a:pPr>
              <a:defRPr sz="1300" b="1">
                <a:solidFill>
                  <a:srgbClr val="F8FAFC"/>
                </a:solidFill>
              </a:defRPr>
            </a:pPr>
            <a:r>
              <a:t>ENTERPRISE</a:t>
            </a:r>
          </a:p>
          <a:p>
            <a:pPr>
              <a:defRPr sz="2600" b="1">
                <a:solidFill>
                  <a:srgbClr val="F8FAFC"/>
                </a:solidFill>
              </a:defRPr>
            </a:pPr>
            <a:r>
              <a:t>$55+</a:t>
            </a:r>
          </a:p>
          <a:p>
            <a:pPr>
              <a:spcAft>
                <a:spcPts val="400"/>
              </a:spcAft>
              <a:defRPr sz="850">
                <a:solidFill>
                  <a:srgbClr val="64748B"/>
                </a:solidFill>
              </a:defRPr>
            </a:pPr>
            <a:r>
              <a:t>per seat / mo (annual contract)</a:t>
            </a:r>
          </a:p>
          <a:p>
            <a:pPr>
              <a:defRPr sz="850" b="1">
                <a:solidFill>
                  <a:srgbClr val="94A3B8"/>
                </a:solidFill>
              </a:defRPr>
            </a:pPr>
            <a:r>
              <a:t>Target: Regulated orgs &amp; large tech</a:t>
            </a:r>
          </a:p>
        </p:txBody>
      </p:sp>
      <p:sp>
        <p:nvSpPr>
          <p:cNvPr id="31" name="Rectangle 30"/>
          <p:cNvSpPr/>
          <p:nvPr/>
        </p:nvSpPr>
        <p:spPr>
          <a:xfrm>
            <a:off x="9098280" y="2788920"/>
            <a:ext cx="2185416"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98280" y="2926080"/>
            <a:ext cx="2185416" cy="2743200"/>
          </a:xfrm>
          <a:prstGeom prst="rect">
            <a:avLst/>
          </a:prstGeom>
          <a:noFill/>
        </p:spPr>
        <p:txBody>
          <a:bodyPr wrap="square" lIns="0" tIns="0" rIns="0" bIns="0">
            <a:spAutoFit/>
          </a:bodyPr>
          <a:lstStyle/>
          <a:p>
            <a:pPr>
              <a:spcAft>
                <a:spcPts val="600"/>
              </a:spcAft>
              <a:defRPr sz="900" b="1">
                <a:solidFill>
                  <a:srgbClr val="F8FAFC"/>
                </a:solidFill>
              </a:defRPr>
            </a:pPr>
            <a:r>
              <a:t>✓ Self-Hosted Relay: </a:t>
            </a:r>
            <a:r>
              <a:rPr b="0">
                <a:solidFill>
                  <a:srgbClr val="94A3B8"/>
                </a:solidFill>
              </a:rPr>
              <a:t>Private VPC / On-premise relay container</a:t>
            </a:r>
          </a:p>
          <a:p>
            <a:pPr>
              <a:spcAft>
                <a:spcPts val="600"/>
              </a:spcAft>
              <a:defRPr sz="900" b="1">
                <a:solidFill>
                  <a:srgbClr val="F8FAFC"/>
                </a:solidFill>
              </a:defRPr>
            </a:pPr>
            <a:r>
              <a:t>✓ SSO / SAML / Okta: </a:t>
            </a:r>
            <a:r>
              <a:rPr b="0">
                <a:solidFill>
                  <a:srgbClr val="94A3B8"/>
                </a:solidFill>
              </a:rPr>
              <a:t>Enterprise identity &amp; user provisioning</a:t>
            </a:r>
          </a:p>
          <a:p>
            <a:pPr>
              <a:spcAft>
                <a:spcPts val="600"/>
              </a:spcAft>
              <a:defRPr sz="900" b="1">
                <a:solidFill>
                  <a:srgbClr val="F8FAFC"/>
                </a:solidFill>
              </a:defRPr>
            </a:pPr>
            <a:r>
              <a:t>✓ SOC2 Audit Logging: </a:t>
            </a:r>
            <a:r>
              <a:rPr b="0">
                <a:solidFill>
                  <a:srgbClr val="94A3B8"/>
                </a:solidFill>
              </a:rPr>
              <a:t>Immutable audit trail of all memory syncs</a:t>
            </a:r>
          </a:p>
          <a:p>
            <a:pPr>
              <a:spcAft>
                <a:spcPts val="600"/>
              </a:spcAft>
              <a:defRPr sz="900" b="1">
                <a:solidFill>
                  <a:srgbClr val="F8FAFC"/>
                </a:solidFill>
              </a:defRPr>
            </a:pPr>
            <a:r>
              <a:t>✓ Air-Gapped Operation: </a:t>
            </a:r>
            <a:r>
              <a:rPr b="0">
                <a:solidFill>
                  <a:srgbClr val="94A3B8"/>
                </a:solidFill>
              </a:rPr>
              <a:t>Internal network deployment without external ping</a:t>
            </a:r>
          </a:p>
          <a:p>
            <a:pPr>
              <a:spcAft>
                <a:spcPts val="600"/>
              </a:spcAft>
              <a:defRPr sz="900" b="1">
                <a:solidFill>
                  <a:srgbClr val="F8FAFC"/>
                </a:solidFill>
              </a:defRPr>
            </a:pPr>
            <a:r>
              <a:t>✓ Custom Adapters: </a:t>
            </a:r>
            <a:r>
              <a:rPr b="0">
                <a:solidFill>
                  <a:srgbClr val="94A3B8"/>
                </a:solidFill>
              </a:rPr>
              <a:t>Dedicated adapter builds for custom LLMs</a:t>
            </a:r>
          </a:p>
          <a:p>
            <a:pPr>
              <a:spcAft>
                <a:spcPts val="600"/>
              </a:spcAft>
              <a:defRPr sz="900" b="1">
                <a:solidFill>
                  <a:srgbClr val="F8FAFC"/>
                </a:solidFill>
              </a:defRPr>
            </a:pPr>
            <a:r>
              <a:t>✓ 99.9% Uptime SLA: </a:t>
            </a:r>
            <a:r>
              <a:rPr b="0">
                <a:solidFill>
                  <a:srgbClr val="94A3B8"/>
                </a:solidFill>
              </a:rPr>
              <a:t>Dedicated technical account manager</a:t>
            </a:r>
          </a:p>
        </p:txBody>
      </p:sp>
      <p:sp>
        <p:nvSpPr>
          <p:cNvPr id="33" name="Rounded Rectangle 32"/>
          <p:cNvSpPr/>
          <p:nvPr/>
        </p:nvSpPr>
        <p:spPr>
          <a:xfrm>
            <a:off x="9098280" y="5806440"/>
            <a:ext cx="2185416" cy="320040"/>
          </a:xfrm>
          <a:prstGeom prst="roundRect">
            <a:avLst/>
          </a:prstGeom>
          <a:solidFill>
            <a:srgbClr val="121822"/>
          </a:solidFill>
          <a:ln w="9525">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16568" y="5833872"/>
            <a:ext cx="2148840" cy="274320"/>
          </a:xfrm>
          <a:prstGeom prst="rect">
            <a:avLst/>
          </a:prstGeom>
          <a:noFill/>
        </p:spPr>
        <p:txBody>
          <a:bodyPr wrap="none">
            <a:spAutoFit/>
          </a:bodyPr>
          <a:lstStyle/>
          <a:p>
            <a:pPr algn="ctr">
              <a:defRPr sz="800" b="1">
                <a:solidFill>
                  <a:srgbClr val="F8FAFC"/>
                </a:solidFill>
              </a:defRPr>
            </a:pPr>
            <a:r>
              <a:t>HIGH-MARGIN ACCOUNTS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56032"/>
          </a:xfrm>
          <a:prstGeom prst="rect">
            <a:avLst/>
          </a:prstGeom>
          <a:noFill/>
        </p:spPr>
        <p:txBody>
          <a:bodyPr wrap="square" lIns="0" tIns="0" rIns="0" bIns="0">
            <a:spAutoFit/>
          </a:bodyPr>
          <a:lstStyle/>
          <a:p>
            <a:pPr>
              <a:defRPr sz="1000" b="1">
                <a:solidFill>
                  <a:srgbClr val="0EA5E9"/>
                </a:solidFill>
              </a:defRPr>
            </a:pPr>
            <a:r>
              <a:t>UNIT COST VS VALUE HEAT MAP</a:t>
            </a:r>
          </a:p>
        </p:txBody>
      </p:sp>
      <p:sp>
        <p:nvSpPr>
          <p:cNvPr id="4" name="TextBox 3"/>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defRPr>
            </a:pPr>
            <a:r>
              <a:t>Monetization Heat Map: Feature Gating &amp; Margin Density</a:t>
            </a:r>
          </a:p>
        </p:txBody>
      </p:sp>
      <p:sp>
        <p:nvSpPr>
          <p:cNvPr id="5" name="TextBox 4"/>
          <p:cNvSpPr txBox="1"/>
          <p:nvPr/>
        </p:nvSpPr>
        <p:spPr>
          <a:xfrm>
            <a:off x="10698480" y="365760"/>
            <a:ext cx="822960" cy="274320"/>
          </a:xfrm>
          <a:prstGeom prst="rect">
            <a:avLst/>
          </a:prstGeom>
          <a:noFill/>
        </p:spPr>
        <p:txBody>
          <a:bodyPr wrap="none">
            <a:spAutoFit/>
          </a:bodyPr>
          <a:lstStyle/>
          <a:p>
            <a:pPr algn="r">
              <a:defRPr sz="1000" b="1">
                <a:solidFill>
                  <a:srgbClr val="64748B"/>
                </a:solidFill>
              </a:defRPr>
            </a:pPr>
            <a:r>
              <a:t>06 / 10</a:t>
            </a:r>
          </a:p>
        </p:txBody>
      </p:sp>
      <p:sp>
        <p:nvSpPr>
          <p:cNvPr id="6" name="Rectangle 5"/>
          <p:cNvSpPr/>
          <p:nvPr/>
        </p:nvSpPr>
        <p:spPr>
          <a:xfrm>
            <a:off x="731520" y="1188720"/>
            <a:ext cx="10728655"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371600"/>
          <a:ext cx="10728655" cy="4023360"/>
        </p:xfrm>
        <a:graphic>
          <a:graphicData uri="http://schemas.openxmlformats.org/drawingml/2006/table">
            <a:tbl>
              <a:tblPr firstRow="1" bandRow="1">
                <a:tableStyleId>{5C22544A-7EE6-4342-B048-85BDC9FD1C3A}</a:tableStyleId>
              </a:tblPr>
              <a:tblGrid>
                <a:gridCol w="2286000"/>
                <a:gridCol w="1463040"/>
                <a:gridCol w="1645920"/>
                <a:gridCol w="1645920"/>
                <a:gridCol w="1645920"/>
                <a:gridCol w="2041855"/>
              </a:tblGrid>
              <a:tr h="447040">
                <a:tc>
                  <a:txBody>
                    <a:bodyPr wrap="square"/>
                    <a:lstStyle/>
                    <a:p>
                      <a:pPr algn="ctr">
                        <a:defRPr sz="950" b="1">
                          <a:solidFill>
                            <a:srgbClr val="0EA5E9"/>
                          </a:solidFill>
                        </a:defRPr>
                      </a:pPr>
                      <a:r>
                        <a:t>Feature / Platform Capability</a:t>
                      </a:r>
                    </a:p>
                  </a:txBody>
                  <a:tcPr anchor="ctr" marL="73152" marR="73152" marT="45720" marB="45720">
                    <a:solidFill>
                      <a:srgbClr val="1E293B"/>
                    </a:solidFill>
                  </a:tcPr>
                </a:tc>
                <a:tc>
                  <a:txBody>
                    <a:bodyPr wrap="square"/>
                    <a:lstStyle/>
                    <a:p>
                      <a:pPr algn="ctr">
                        <a:defRPr sz="950" b="1">
                          <a:solidFill>
                            <a:srgbClr val="0EA5E9"/>
                          </a:solidFill>
                        </a:defRPr>
                      </a:pPr>
                      <a:r>
                        <a:t>Subscription Tier</a:t>
                      </a:r>
                      <a:br/>
                      <a:r>
                        <a:t>Access Gate</a:t>
                      </a:r>
                    </a:p>
                  </a:txBody>
                  <a:tcPr anchor="ctr" marL="73152" marR="73152" marT="45720" marB="45720">
                    <a:solidFill>
                      <a:srgbClr val="1E293B"/>
                    </a:solidFill>
                  </a:tcPr>
                </a:tc>
                <a:tc>
                  <a:txBody>
                    <a:bodyPr wrap="square"/>
                    <a:lstStyle/>
                    <a:p>
                      <a:pPr algn="ctr">
                        <a:defRPr sz="950" b="1">
                          <a:solidFill>
                            <a:srgbClr val="0EA5E9"/>
                          </a:solidFill>
                        </a:defRPr>
                      </a:pPr>
                      <a:r>
                        <a:t>Perceived User Value</a:t>
                      </a:r>
                      <a:br/>
                      <a:r>
                        <a:t>(Friction Saved)</a:t>
                      </a:r>
                    </a:p>
                  </a:txBody>
                  <a:tcPr anchor="ctr" marL="73152" marR="73152" marT="45720" marB="45720">
                    <a:solidFill>
                      <a:srgbClr val="1E293B"/>
                    </a:solidFill>
                  </a:tcPr>
                </a:tc>
                <a:tc>
                  <a:txBody>
                    <a:bodyPr wrap="square"/>
                    <a:lstStyle/>
                    <a:p>
                      <a:pPr algn="ctr">
                        <a:defRPr sz="950" b="1">
                          <a:solidFill>
                            <a:srgbClr val="0EA5E9"/>
                          </a:solidFill>
                        </a:defRPr>
                      </a:pPr>
                      <a:r>
                        <a:t>Relay Infra Cost</a:t>
                      </a:r>
                      <a:br/>
                      <a:r>
                        <a:t>(COGS / User / Mo)</a:t>
                      </a:r>
                    </a:p>
                  </a:txBody>
                  <a:tcPr anchor="ctr" marL="73152" marR="73152" marT="45720" marB="45720">
                    <a:solidFill>
                      <a:srgbClr val="1E293B"/>
                    </a:solidFill>
                  </a:tcPr>
                </a:tc>
                <a:tc>
                  <a:txBody>
                    <a:bodyPr wrap="square"/>
                    <a:lstStyle/>
                    <a:p>
                      <a:pPr algn="ctr">
                        <a:defRPr sz="950" b="1">
                          <a:solidFill>
                            <a:srgbClr val="0EA5E9"/>
                          </a:solidFill>
                        </a:defRPr>
                      </a:pPr>
                      <a:r>
                        <a:t>Gross Margin</a:t>
                      </a:r>
                      <a:br/>
                      <a:r>
                        <a:t>Contribution</a:t>
                      </a:r>
                    </a:p>
                  </a:txBody>
                  <a:tcPr anchor="ctr" marL="73152" marR="73152" marT="45720" marB="45720">
                    <a:solidFill>
                      <a:srgbClr val="1E293B"/>
                    </a:solidFill>
                  </a:tcPr>
                </a:tc>
                <a:tc>
                  <a:txBody>
                    <a:bodyPr wrap="square"/>
                    <a:lstStyle/>
                    <a:p>
                      <a:pPr algn="ctr">
                        <a:defRPr sz="950" b="1">
                          <a:solidFill>
                            <a:srgbClr val="0EA5E9"/>
                          </a:solidFill>
                        </a:defRPr>
                      </a:pPr>
                      <a:r>
                        <a:t>Upgrade Conversion</a:t>
                      </a:r>
                      <a:br/>
                      <a:r>
                        <a:t>Leverage Intensity</a:t>
                      </a:r>
                    </a:p>
                  </a:txBody>
                  <a:tcPr anchor="ctr" marL="73152" marR="73152" marT="45720" marB="45720">
                    <a:solidFill>
                      <a:srgbClr val="1E293B"/>
                    </a:solidFill>
                  </a:tcPr>
                </a:tc>
              </a:tr>
              <a:tr h="447040">
                <a:tc>
                  <a:txBody>
                    <a:bodyPr wrap="square"/>
                    <a:lstStyle/>
                    <a:p>
                      <a:pPr algn="l">
                        <a:defRPr sz="900" b="1">
                          <a:solidFill>
                            <a:srgbClr val="F8FAFC"/>
                          </a:solidFill>
                        </a:defRPr>
                      </a:pPr>
                      <a:r>
                        <a:t>UMS Open Spec &amp; Headless CLI</a:t>
                      </a:r>
                    </a:p>
                  </a:txBody>
                  <a:tcPr anchor="ctr" marL="73152" marR="73152" marT="45720" marB="45720">
                    <a:solidFill>
                      <a:srgbClr val="161B22"/>
                    </a:solidFill>
                  </a:tcPr>
                </a:tc>
                <a:tc>
                  <a:txBody>
                    <a:bodyPr wrap="square"/>
                    <a:lstStyle/>
                    <a:p>
                      <a:pPr algn="ctr">
                        <a:defRPr sz="850" b="1">
                          <a:solidFill>
                            <a:srgbClr val="F8FAFC"/>
                          </a:solidFill>
                        </a:defRPr>
                      </a:pPr>
                      <a:r>
                        <a:t>Community (Free)</a:t>
                      </a:r>
                    </a:p>
                  </a:txBody>
                  <a:tcPr anchor="ctr" marL="73152" marR="73152" marT="45720" marB="45720">
                    <a:solidFill>
                      <a:srgbClr val="283246"/>
                    </a:solidFill>
                  </a:tcPr>
                </a:tc>
                <a:tc>
                  <a:txBody>
                    <a:bodyPr wrap="square"/>
                    <a:lstStyle/>
                    <a:p>
                      <a:pPr algn="ctr">
                        <a:defRPr sz="850" b="1">
                          <a:solidFill>
                            <a:srgbClr val="F8FAFC"/>
                          </a:solidFill>
                        </a:defRPr>
                      </a:pPr>
                      <a:r>
                        <a:t>Moderate</a:t>
                      </a:r>
                      <a:br/>
                      <a:r>
                        <a:t>Standardization</a:t>
                      </a:r>
                    </a:p>
                  </a:txBody>
                  <a:tcPr anchor="ctr" marL="73152" marR="73152" marT="45720" marB="45720">
                    <a:solidFill>
                      <a:srgbClr val="B4690C"/>
                    </a:solidFill>
                  </a:tcPr>
                </a:tc>
                <a:tc>
                  <a:txBody>
                    <a:bodyPr wrap="square"/>
                    <a:lstStyle/>
                    <a:p>
                      <a:pPr algn="ctr">
                        <a:defRPr sz="850" b="1">
                          <a:solidFill>
                            <a:srgbClr val="F8FAFC"/>
                          </a:solidFill>
                        </a:defRPr>
                      </a:pPr>
                      <a:r>
                        <a:t>Zero ($0)</a:t>
                      </a:r>
                      <a:br/>
                      <a:r>
                        <a:t>100% Client-side</a:t>
                      </a:r>
                    </a:p>
                  </a:txBody>
                  <a:tcPr anchor="ctr" marL="73152" marR="73152" marT="45720" marB="45720">
                    <a:solidFill>
                      <a:srgbClr val="0D6E44"/>
                    </a:solidFill>
                  </a:tcPr>
                </a:tc>
                <a:tc>
                  <a:txBody>
                    <a:bodyPr wrap="square"/>
                    <a:lstStyle/>
                    <a:p>
                      <a:pPr algn="ctr">
                        <a:defRPr sz="850" b="1">
                          <a:solidFill>
                            <a:srgbClr val="F8FAFC"/>
                          </a:solidFill>
                        </a:defRPr>
                      </a:pPr>
                      <a:r>
                        <a:t>100% Margin</a:t>
                      </a:r>
                      <a:br/>
                      <a:r>
                        <a:t>Zero server load</a:t>
                      </a:r>
                    </a:p>
                  </a:txBody>
                  <a:tcPr anchor="ctr" marL="73152" marR="73152" marT="45720" marB="45720">
                    <a:solidFill>
                      <a:srgbClr val="0D6E44"/>
                    </a:solidFill>
                  </a:tcPr>
                </a:tc>
                <a:tc>
                  <a:txBody>
                    <a:bodyPr wrap="square"/>
                    <a:lstStyle/>
                    <a:p>
                      <a:pPr algn="ctr">
                        <a:defRPr sz="850" b="1">
                          <a:solidFill>
                            <a:srgbClr val="F8FAFC"/>
                          </a:solidFill>
                        </a:defRPr>
                      </a:pPr>
                      <a:r>
                        <a:t>LOW (Top of Funnel)</a:t>
                      </a:r>
                      <a:br/>
                      <a:r>
                        <a:t>Establishes open standard</a:t>
                      </a:r>
                    </a:p>
                  </a:txBody>
                  <a:tcPr anchor="ctr" marL="73152" marR="73152" marT="45720" marB="45720">
                    <a:solidFill>
                      <a:srgbClr val="283246"/>
                    </a:solidFill>
                  </a:tcPr>
                </a:tc>
              </a:tr>
              <a:tr h="447040">
                <a:tc>
                  <a:txBody>
                    <a:bodyPr wrap="square"/>
                    <a:lstStyle/>
                    <a:p>
                      <a:pPr algn="l">
                        <a:defRPr sz="900" b="1">
                          <a:solidFill>
                            <a:srgbClr val="F8FAFC"/>
                          </a:solidFill>
                        </a:defRPr>
                      </a:pPr>
                      <a:r>
                        <a:t>Local SQLite Vault (ums_vault.db)</a:t>
                      </a:r>
                    </a:p>
                  </a:txBody>
                  <a:tcPr anchor="ctr" marL="73152" marR="73152" marT="45720" marB="45720">
                    <a:solidFill>
                      <a:srgbClr val="161B22"/>
                    </a:solidFill>
                  </a:tcPr>
                </a:tc>
                <a:tc>
                  <a:txBody>
                    <a:bodyPr wrap="square"/>
                    <a:lstStyle/>
                    <a:p>
                      <a:pPr algn="ctr">
                        <a:defRPr sz="850" b="1">
                          <a:solidFill>
                            <a:srgbClr val="F8FAFC"/>
                          </a:solidFill>
                        </a:defRPr>
                      </a:pPr>
                      <a:r>
                        <a:t>Community (Free)</a:t>
                      </a:r>
                    </a:p>
                  </a:txBody>
                  <a:tcPr anchor="ctr" marL="73152" marR="73152" marT="45720" marB="45720">
                    <a:solidFill>
                      <a:srgbClr val="283246"/>
                    </a:solidFill>
                  </a:tcPr>
                </a:tc>
                <a:tc>
                  <a:txBody>
                    <a:bodyPr wrap="square"/>
                    <a:lstStyle/>
                    <a:p>
                      <a:pPr algn="ctr">
                        <a:defRPr sz="850" b="1">
                          <a:solidFill>
                            <a:srgbClr val="F8FAFC"/>
                          </a:solidFill>
                        </a:defRPr>
                      </a:pPr>
                      <a:r>
                        <a:t>High</a:t>
                      </a:r>
                      <a:br/>
                      <a:r>
                        <a:t>Full data privacy</a:t>
                      </a:r>
                    </a:p>
                  </a:txBody>
                  <a:tcPr anchor="ctr" marL="73152" marR="73152" marT="45720" marB="45720">
                    <a:solidFill>
                      <a:srgbClr val="148255"/>
                    </a:solidFill>
                  </a:tcPr>
                </a:tc>
                <a:tc>
                  <a:txBody>
                    <a:bodyPr wrap="square"/>
                    <a:lstStyle/>
                    <a:p>
                      <a:pPr algn="ctr">
                        <a:defRPr sz="850" b="1">
                          <a:solidFill>
                            <a:srgbClr val="F8FAFC"/>
                          </a:solidFill>
                        </a:defRPr>
                      </a:pPr>
                      <a:r>
                        <a:t>Zero ($0)</a:t>
                      </a:r>
                      <a:br/>
                      <a:r>
                        <a:t>Local disk only</a:t>
                      </a:r>
                    </a:p>
                  </a:txBody>
                  <a:tcPr anchor="ctr" marL="73152" marR="73152" marT="45720" marB="45720">
                    <a:solidFill>
                      <a:srgbClr val="0D6E44"/>
                    </a:solidFill>
                  </a:tcPr>
                </a:tc>
                <a:tc>
                  <a:txBody>
                    <a:bodyPr wrap="square"/>
                    <a:lstStyle/>
                    <a:p>
                      <a:pPr algn="ctr">
                        <a:defRPr sz="850" b="1">
                          <a:solidFill>
                            <a:srgbClr val="F8FAFC"/>
                          </a:solidFill>
                        </a:defRPr>
                      </a:pPr>
                      <a:r>
                        <a:t>100% Margin</a:t>
                      </a:r>
                      <a:br/>
                      <a:r>
                        <a:t>Zero server load</a:t>
                      </a:r>
                    </a:p>
                  </a:txBody>
                  <a:tcPr anchor="ctr" marL="73152" marR="73152" marT="45720" marB="45720">
                    <a:solidFill>
                      <a:srgbClr val="0D6E44"/>
                    </a:solidFill>
                  </a:tcPr>
                </a:tc>
                <a:tc>
                  <a:txBody>
                    <a:bodyPr wrap="square"/>
                    <a:lstStyle/>
                    <a:p>
                      <a:pPr algn="ctr">
                        <a:defRPr sz="850" b="1">
                          <a:solidFill>
                            <a:srgbClr val="F8FAFC"/>
                          </a:solidFill>
                        </a:defRPr>
                      </a:pPr>
                      <a:r>
                        <a:t>MODERATE</a:t>
                      </a:r>
                      <a:br/>
                      <a:r>
                        <a:t>Creates sticky local data</a:t>
                      </a:r>
                    </a:p>
                  </a:txBody>
                  <a:tcPr anchor="ctr" marL="73152" marR="73152" marT="45720" marB="45720">
                    <a:solidFill>
                      <a:srgbClr val="B4690C"/>
                    </a:solidFill>
                  </a:tcPr>
                </a:tc>
              </a:tr>
              <a:tr h="447040">
                <a:tc>
                  <a:txBody>
                    <a:bodyPr wrap="square"/>
                    <a:lstStyle/>
                    <a:p>
                      <a:pPr algn="l">
                        <a:defRPr sz="900" b="1">
                          <a:solidFill>
                            <a:srgbClr val="F8FAFC"/>
                          </a:solidFill>
                        </a:defRPr>
                      </a:pPr>
                      <a:r>
                        <a:t>E2E Encrypted Cloud Sync Relay</a:t>
                      </a:r>
                    </a:p>
                  </a:txBody>
                  <a:tcPr anchor="ctr" marL="73152" marR="73152" marT="45720" marB="45720">
                    <a:solidFill>
                      <a:srgbClr val="161B22"/>
                    </a:solidFill>
                  </a:tcPr>
                </a:tc>
                <a:tc>
                  <a:txBody>
                    <a:bodyPr wrap="square"/>
                    <a:lstStyle/>
                    <a:p>
                      <a:pPr algn="ctr">
                        <a:defRPr sz="850" b="1">
                          <a:solidFill>
                            <a:srgbClr val="F8FAFC"/>
                          </a:solidFill>
                        </a:defRPr>
                      </a:pPr>
                      <a:r>
                        <a:t>Relay Pro ($12/mo)</a:t>
                      </a:r>
                    </a:p>
                  </a:txBody>
                  <a:tcPr anchor="ctr" marL="73152" marR="73152" marT="45720" marB="45720">
                    <a:solidFill>
                      <a:srgbClr val="148255"/>
                    </a:solidFill>
                  </a:tcPr>
                </a:tc>
                <a:tc>
                  <a:txBody>
                    <a:bodyPr wrap="square"/>
                    <a:lstStyle/>
                    <a:p>
                      <a:pPr algn="ctr">
                        <a:defRPr sz="850" b="1">
                          <a:solidFill>
                            <a:srgbClr val="F8FAFC"/>
                          </a:solidFill>
                        </a:defRPr>
                      </a:pPr>
                      <a:r>
                        <a:t>Very High</a:t>
                      </a:r>
                      <a:br/>
                      <a:r>
                        <a:t>Laptop/desktop parity</a:t>
                      </a:r>
                    </a:p>
                  </a:txBody>
                  <a:tcPr anchor="ctr" marL="73152" marR="73152" marT="45720" marB="45720">
                    <a:solidFill>
                      <a:srgbClr val="0D6E44"/>
                    </a:solidFill>
                  </a:tcPr>
                </a:tc>
                <a:tc>
                  <a:txBody>
                    <a:bodyPr wrap="square"/>
                    <a:lstStyle/>
                    <a:p>
                      <a:pPr algn="ctr">
                        <a:defRPr sz="850" b="1">
                          <a:solidFill>
                            <a:srgbClr val="F8FAFC"/>
                          </a:solidFill>
                        </a:defRPr>
                      </a:pPr>
                      <a:r>
                        <a:t>Negligible (&lt;$0.25)</a:t>
                      </a:r>
                      <a:br/>
                      <a:r>
                        <a:t>Encrypted JSON blobs</a:t>
                      </a:r>
                    </a:p>
                  </a:txBody>
                  <a:tcPr anchor="ctr" marL="73152" marR="73152" marT="45720" marB="45720">
                    <a:solidFill>
                      <a:srgbClr val="0D6E44"/>
                    </a:solidFill>
                  </a:tcPr>
                </a:tc>
                <a:tc>
                  <a:txBody>
                    <a:bodyPr wrap="square"/>
                    <a:lstStyle/>
                    <a:p>
                      <a:pPr algn="ctr">
                        <a:defRPr sz="850" b="1">
                          <a:solidFill>
                            <a:srgbClr val="F8FAFC"/>
                          </a:solidFill>
                        </a:defRPr>
                      </a:pPr>
                      <a:r>
                        <a:t>97.9% Margin</a:t>
                      </a:r>
                      <a:br/>
                      <a:r>
                        <a:t>Minimal server bytes</a:t>
                      </a:r>
                    </a:p>
                  </a:txBody>
                  <a:tcPr anchor="ctr" marL="73152" marR="73152" marT="45720" marB="45720">
                    <a:solidFill>
                      <a:srgbClr val="0D6E44"/>
                    </a:solidFill>
                  </a:tcPr>
                </a:tc>
                <a:tc>
                  <a:txBody>
                    <a:bodyPr wrap="square"/>
                    <a:lstStyle/>
                    <a:p>
                      <a:pPr algn="ctr">
                        <a:defRPr sz="850" b="1">
                          <a:solidFill>
                            <a:srgbClr val="F8FAFC"/>
                          </a:solidFill>
                        </a:defRPr>
                      </a:pPr>
                      <a:r>
                        <a:t>VERY HIGH (Primary Hook)</a:t>
                      </a:r>
                      <a:br/>
                      <a:r>
                        <a:t>Users need multi-machine sync</a:t>
                      </a:r>
                    </a:p>
                  </a:txBody>
                  <a:tcPr anchor="ctr" marL="73152" marR="73152" marT="45720" marB="45720">
                    <a:solidFill>
                      <a:srgbClr val="0D6E44"/>
                    </a:solidFill>
                  </a:tcPr>
                </a:tc>
              </a:tr>
              <a:tr h="447040">
                <a:tc>
                  <a:txBody>
                    <a:bodyPr wrap="square"/>
                    <a:lstStyle/>
                    <a:p>
                      <a:pPr algn="l">
                        <a:defRPr sz="900" b="1">
                          <a:solidFill>
                            <a:srgbClr val="F8FAFC"/>
                          </a:solidFill>
                        </a:defRPr>
                      </a:pPr>
                      <a:r>
                        <a:t>1-Click Cross-Tab Session Handoff</a:t>
                      </a:r>
                    </a:p>
                  </a:txBody>
                  <a:tcPr anchor="ctr" marL="73152" marR="73152" marT="45720" marB="45720">
                    <a:solidFill>
                      <a:srgbClr val="161B22"/>
                    </a:solidFill>
                  </a:tcPr>
                </a:tc>
                <a:tc>
                  <a:txBody>
                    <a:bodyPr wrap="square"/>
                    <a:lstStyle/>
                    <a:p>
                      <a:pPr algn="ctr">
                        <a:defRPr sz="850" b="1">
                          <a:solidFill>
                            <a:srgbClr val="F8FAFC"/>
                          </a:solidFill>
                        </a:defRPr>
                      </a:pPr>
                      <a:r>
                        <a:t>Relay Pro ($12/mo)</a:t>
                      </a:r>
                    </a:p>
                  </a:txBody>
                  <a:tcPr anchor="ctr" marL="73152" marR="73152" marT="45720" marB="45720">
                    <a:solidFill>
                      <a:srgbClr val="148255"/>
                    </a:solidFill>
                  </a:tcPr>
                </a:tc>
                <a:tc>
                  <a:txBody>
                    <a:bodyPr wrap="square"/>
                    <a:lstStyle/>
                    <a:p>
                      <a:pPr algn="ctr">
                        <a:defRPr sz="850" b="1">
                          <a:solidFill>
                            <a:srgbClr val="F8FAFC"/>
                          </a:solidFill>
                        </a:defRPr>
                      </a:pPr>
                      <a:r>
                        <a:t>Extreme</a:t>
                      </a:r>
                      <a:br/>
                      <a:r>
                        <a:t>Saves 20 min per switch</a:t>
                      </a:r>
                    </a:p>
                  </a:txBody>
                  <a:tcPr anchor="ctr" marL="73152" marR="73152" marT="45720" marB="45720">
                    <a:solidFill>
                      <a:srgbClr val="0D6E44"/>
                    </a:solidFill>
                  </a:tcPr>
                </a:tc>
                <a:tc>
                  <a:txBody>
                    <a:bodyPr wrap="square"/>
                    <a:lstStyle/>
                    <a:p>
                      <a:pPr algn="ctr">
                        <a:defRPr sz="850" b="1">
                          <a:solidFill>
                            <a:srgbClr val="F8FAFC"/>
                          </a:solidFill>
                        </a:defRPr>
                      </a:pPr>
                      <a:r>
                        <a:t>Zero ($0)</a:t>
                      </a:r>
                      <a:br/>
                      <a:r>
                        <a:t>Browser-local extension</a:t>
                      </a:r>
                    </a:p>
                  </a:txBody>
                  <a:tcPr anchor="ctr" marL="73152" marR="73152" marT="45720" marB="45720">
                    <a:solidFill>
                      <a:srgbClr val="0D6E44"/>
                    </a:solidFill>
                  </a:tcPr>
                </a:tc>
                <a:tc>
                  <a:txBody>
                    <a:bodyPr wrap="square"/>
                    <a:lstStyle/>
                    <a:p>
                      <a:pPr algn="ctr">
                        <a:defRPr sz="850" b="1">
                          <a:solidFill>
                            <a:srgbClr val="F8FAFC"/>
                          </a:solidFill>
                        </a:defRPr>
                      </a:pPr>
                      <a:r>
                        <a:t>100% Margin</a:t>
                      </a:r>
                      <a:br/>
                      <a:r>
                        <a:t>Client-side script</a:t>
                      </a:r>
                    </a:p>
                  </a:txBody>
                  <a:tcPr anchor="ctr" marL="73152" marR="73152" marT="45720" marB="45720">
                    <a:solidFill>
                      <a:srgbClr val="0D6E44"/>
                    </a:solidFill>
                  </a:tcPr>
                </a:tc>
                <a:tc>
                  <a:txBody>
                    <a:bodyPr wrap="square"/>
                    <a:lstStyle/>
                    <a:p>
                      <a:pPr algn="ctr">
                        <a:defRPr sz="850" b="1">
                          <a:solidFill>
                            <a:srgbClr val="F8FAFC"/>
                          </a:solidFill>
                        </a:defRPr>
                      </a:pPr>
                      <a:r>
                        <a:t>CRITICAL (Daily Habit)</a:t>
                      </a:r>
                      <a:br/>
                      <a:r>
                        <a:t>Instant switching gratification</a:t>
                      </a:r>
                    </a:p>
                  </a:txBody>
                  <a:tcPr anchor="ctr" marL="73152" marR="73152" marT="45720" marB="45720">
                    <a:solidFill>
                      <a:srgbClr val="0D6E44"/>
                    </a:solidFill>
                  </a:tcPr>
                </a:tc>
              </a:tr>
              <a:tr h="447040">
                <a:tc>
                  <a:txBody>
                    <a:bodyPr wrap="square"/>
                    <a:lstStyle/>
                    <a:p>
                      <a:pPr algn="l">
                        <a:defRPr sz="900" b="1">
                          <a:solidFill>
                            <a:srgbClr val="F8FAFC"/>
                          </a:solidFill>
                        </a:defRPr>
                      </a:pPr>
                      <a:r>
                        <a:t>Semantic Retention Diff Engine</a:t>
                      </a:r>
                    </a:p>
                  </a:txBody>
                  <a:tcPr anchor="ctr" marL="73152" marR="73152" marT="45720" marB="45720">
                    <a:solidFill>
                      <a:srgbClr val="161B22"/>
                    </a:solidFill>
                  </a:tcPr>
                </a:tc>
                <a:tc>
                  <a:txBody>
                    <a:bodyPr wrap="square"/>
                    <a:lstStyle/>
                    <a:p>
                      <a:pPr algn="ctr">
                        <a:defRPr sz="850" b="1">
                          <a:solidFill>
                            <a:srgbClr val="F8FAFC"/>
                          </a:solidFill>
                        </a:defRPr>
                      </a:pPr>
                      <a:r>
                        <a:t>Relay Pro ($12/mo)</a:t>
                      </a:r>
                    </a:p>
                  </a:txBody>
                  <a:tcPr anchor="ctr" marL="73152" marR="73152" marT="45720" marB="45720">
                    <a:solidFill>
                      <a:srgbClr val="148255"/>
                    </a:solidFill>
                  </a:tcPr>
                </a:tc>
                <a:tc>
                  <a:txBody>
                    <a:bodyPr wrap="square"/>
                    <a:lstStyle/>
                    <a:p>
                      <a:pPr algn="ctr">
                        <a:defRPr sz="850" b="1">
                          <a:solidFill>
                            <a:srgbClr val="F8FAFC"/>
                          </a:solidFill>
                        </a:defRPr>
                      </a:pPr>
                      <a:r>
                        <a:t>High</a:t>
                      </a:r>
                      <a:br/>
                      <a:r>
                        <a:t>Verifies memory fidelity</a:t>
                      </a:r>
                    </a:p>
                  </a:txBody>
                  <a:tcPr anchor="ctr" marL="73152" marR="73152" marT="45720" marB="45720">
                    <a:solidFill>
                      <a:srgbClr val="148255"/>
                    </a:solidFill>
                  </a:tcPr>
                </a:tc>
                <a:tc>
                  <a:txBody>
                    <a:bodyPr wrap="square"/>
                    <a:lstStyle/>
                    <a:p>
                      <a:pPr algn="ctr">
                        <a:defRPr sz="850" b="1">
                          <a:solidFill>
                            <a:srgbClr val="F8FAFC"/>
                          </a:solidFill>
                        </a:defRPr>
                      </a:pPr>
                      <a:r>
                        <a:t>Minimal (&lt;$0.30)</a:t>
                      </a:r>
                      <a:br/>
                      <a:r>
                        <a:t>Local diff algorithm</a:t>
                      </a:r>
                    </a:p>
                  </a:txBody>
                  <a:tcPr anchor="ctr" marL="73152" marR="73152" marT="45720" marB="45720">
                    <a:solidFill>
                      <a:srgbClr val="148255"/>
                    </a:solidFill>
                  </a:tcPr>
                </a:tc>
                <a:tc>
                  <a:txBody>
                    <a:bodyPr wrap="square"/>
                    <a:lstStyle/>
                    <a:p>
                      <a:pPr algn="ctr">
                        <a:defRPr sz="850" b="1">
                          <a:solidFill>
                            <a:srgbClr val="F8FAFC"/>
                          </a:solidFill>
                        </a:defRPr>
                      </a:pPr>
                      <a:r>
                        <a:t>97.5% Margin</a:t>
                      </a:r>
                      <a:br/>
                      <a:r>
                        <a:t>Standard library diff</a:t>
                      </a:r>
                    </a:p>
                  </a:txBody>
                  <a:tcPr anchor="ctr" marL="73152" marR="73152" marT="45720" marB="45720">
                    <a:solidFill>
                      <a:srgbClr val="148255"/>
                    </a:solidFill>
                  </a:tcPr>
                </a:tc>
                <a:tc>
                  <a:txBody>
                    <a:bodyPr wrap="square"/>
                    <a:lstStyle/>
                    <a:p>
                      <a:pPr algn="ctr">
                        <a:defRPr sz="850" b="1">
                          <a:solidFill>
                            <a:srgbClr val="F8FAFC"/>
                          </a:solidFill>
                        </a:defRPr>
                      </a:pPr>
                      <a:r>
                        <a:t>HIGH (Trust Driver)</a:t>
                      </a:r>
                      <a:br/>
                      <a:r>
                        <a:t>Proves LLM memory retained</a:t>
                      </a:r>
                    </a:p>
                  </a:txBody>
                  <a:tcPr anchor="ctr" marL="73152" marR="73152" marT="45720" marB="45720">
                    <a:solidFill>
                      <a:srgbClr val="148255"/>
                    </a:solidFill>
                  </a:tcPr>
                </a:tc>
              </a:tr>
              <a:tr h="447040">
                <a:tc>
                  <a:txBody>
                    <a:bodyPr wrap="square"/>
                    <a:lstStyle/>
                    <a:p>
                      <a:pPr algn="l">
                        <a:defRPr sz="900" b="1">
                          <a:solidFill>
                            <a:srgbClr val="F8FAFC"/>
                          </a:solidFill>
                        </a:defRPr>
                      </a:pPr>
                      <a:r>
                        <a:t>Centralized .cursorrules &amp; CLAUDE.md Sync</a:t>
                      </a:r>
                    </a:p>
                  </a:txBody>
                  <a:tcPr anchor="ctr" marL="73152" marR="73152" marT="45720" marB="45720">
                    <a:solidFill>
                      <a:srgbClr val="161B22"/>
                    </a:solidFill>
                  </a:tcPr>
                </a:tc>
                <a:tc>
                  <a:txBody>
                    <a:bodyPr wrap="square"/>
                    <a:lstStyle/>
                    <a:p>
                      <a:pPr algn="ctr">
                        <a:defRPr sz="850" b="1">
                          <a:solidFill>
                            <a:srgbClr val="F8FAFC"/>
                          </a:solidFill>
                        </a:defRPr>
                      </a:pPr>
                      <a:r>
                        <a:t>Relay Team ($28/seat)</a:t>
                      </a:r>
                    </a:p>
                  </a:txBody>
                  <a:tcPr anchor="ctr" marL="73152" marR="73152" marT="45720" marB="45720">
                    <a:solidFill>
                      <a:srgbClr val="0D6E44"/>
                    </a:solidFill>
                  </a:tcPr>
                </a:tc>
                <a:tc>
                  <a:txBody>
                    <a:bodyPr wrap="square"/>
                    <a:lstStyle/>
                    <a:p>
                      <a:pPr algn="ctr">
                        <a:defRPr sz="850" b="1">
                          <a:solidFill>
                            <a:srgbClr val="F8FAFC"/>
                          </a:solidFill>
                        </a:defRPr>
                      </a:pPr>
                      <a:r>
                        <a:t>Extreme</a:t>
                      </a:r>
                      <a:br/>
                      <a:r>
                        <a:t>Repo-wide consistency</a:t>
                      </a:r>
                    </a:p>
                  </a:txBody>
                  <a:tcPr anchor="ctr" marL="73152" marR="73152" marT="45720" marB="45720">
                    <a:solidFill>
                      <a:srgbClr val="0D6E44"/>
                    </a:solidFill>
                  </a:tcPr>
                </a:tc>
                <a:tc>
                  <a:txBody>
                    <a:bodyPr wrap="square"/>
                    <a:lstStyle/>
                    <a:p>
                      <a:pPr algn="ctr">
                        <a:defRPr sz="850" b="1">
                          <a:solidFill>
                            <a:srgbClr val="F8FAFC"/>
                          </a:solidFill>
                        </a:defRPr>
                      </a:pPr>
                      <a:r>
                        <a:t>Negligible (&lt;$0.40)</a:t>
                      </a:r>
                      <a:br/>
                      <a:r>
                        <a:t>Git/WebHook sync</a:t>
                      </a:r>
                    </a:p>
                  </a:txBody>
                  <a:tcPr anchor="ctr" marL="73152" marR="73152" marT="45720" marB="45720">
                    <a:solidFill>
                      <a:srgbClr val="0D6E44"/>
                    </a:solidFill>
                  </a:tcPr>
                </a:tc>
                <a:tc>
                  <a:txBody>
                    <a:bodyPr wrap="square"/>
                    <a:lstStyle/>
                    <a:p>
                      <a:pPr algn="ctr">
                        <a:defRPr sz="850" b="1">
                          <a:solidFill>
                            <a:srgbClr val="F8FAFC"/>
                          </a:solidFill>
                        </a:defRPr>
                      </a:pPr>
                      <a:r>
                        <a:t>98.5% Margin</a:t>
                      </a:r>
                      <a:br/>
                      <a:r>
                        <a:t>Text payload sync</a:t>
                      </a:r>
                    </a:p>
                  </a:txBody>
                  <a:tcPr anchor="ctr" marL="73152" marR="73152" marT="45720" marB="45720">
                    <a:solidFill>
                      <a:srgbClr val="0D6E44"/>
                    </a:solidFill>
                  </a:tcPr>
                </a:tc>
                <a:tc>
                  <a:txBody>
                    <a:bodyPr wrap="square"/>
                    <a:lstStyle/>
                    <a:p>
                      <a:pPr algn="ctr">
                        <a:defRPr sz="850" b="1">
                          <a:solidFill>
                            <a:srgbClr val="F8FAFC"/>
                          </a:solidFill>
                        </a:defRPr>
                      </a:pPr>
                      <a:r>
                        <a:t>CRITICAL (Team Expansion)</a:t>
                      </a:r>
                      <a:br/>
                      <a:r>
                        <a:t>Tech lead mandates for whole squad</a:t>
                      </a:r>
                    </a:p>
                  </a:txBody>
                  <a:tcPr anchor="ctr" marL="73152" marR="73152" marT="45720" marB="45720">
                    <a:solidFill>
                      <a:srgbClr val="0D6E44"/>
                    </a:solidFill>
                  </a:tcPr>
                </a:tc>
              </a:tr>
              <a:tr h="447040">
                <a:tc>
                  <a:txBody>
                    <a:bodyPr wrap="square"/>
                    <a:lstStyle/>
                    <a:p>
                      <a:pPr algn="l">
                        <a:defRPr sz="900" b="1">
                          <a:solidFill>
                            <a:srgbClr val="F8FAFC"/>
                          </a:solidFill>
                        </a:defRPr>
                      </a:pPr>
                      <a:r>
                        <a:t>Secret &amp; PII Redaction Guardrail</a:t>
                      </a:r>
                    </a:p>
                  </a:txBody>
                  <a:tcPr anchor="ctr" marL="73152" marR="73152" marT="45720" marB="45720">
                    <a:solidFill>
                      <a:srgbClr val="161B22"/>
                    </a:solidFill>
                  </a:tcPr>
                </a:tc>
                <a:tc>
                  <a:txBody>
                    <a:bodyPr wrap="square"/>
                    <a:lstStyle/>
                    <a:p>
                      <a:pPr algn="ctr">
                        <a:defRPr sz="850" b="1">
                          <a:solidFill>
                            <a:srgbClr val="F8FAFC"/>
                          </a:solidFill>
                        </a:defRPr>
                      </a:pPr>
                      <a:r>
                        <a:t>Relay Team ($28/seat)</a:t>
                      </a:r>
                    </a:p>
                  </a:txBody>
                  <a:tcPr anchor="ctr" marL="73152" marR="73152" marT="45720" marB="45720">
                    <a:solidFill>
                      <a:srgbClr val="0D6E44"/>
                    </a:solidFill>
                  </a:tcPr>
                </a:tc>
                <a:tc>
                  <a:txBody>
                    <a:bodyPr wrap="square"/>
                    <a:lstStyle/>
                    <a:p>
                      <a:pPr algn="ctr">
                        <a:defRPr sz="850" b="1">
                          <a:solidFill>
                            <a:srgbClr val="F8FAFC"/>
                          </a:solidFill>
                        </a:defRPr>
                      </a:pPr>
                      <a:r>
                        <a:t>Critical</a:t>
                      </a:r>
                      <a:br/>
                      <a:r>
                        <a:t>Blocks API key leaks</a:t>
                      </a:r>
                    </a:p>
                  </a:txBody>
                  <a:tcPr anchor="ctr" marL="73152" marR="73152" marT="45720" marB="45720">
                    <a:solidFill>
                      <a:srgbClr val="0D6E44"/>
                    </a:solidFill>
                  </a:tcPr>
                </a:tc>
                <a:tc>
                  <a:txBody>
                    <a:bodyPr wrap="square"/>
                    <a:lstStyle/>
                    <a:p>
                      <a:pPr algn="ctr">
                        <a:defRPr sz="850" b="1">
                          <a:solidFill>
                            <a:srgbClr val="F8FAFC"/>
                          </a:solidFill>
                        </a:defRPr>
                      </a:pPr>
                      <a:r>
                        <a:t>Negligible (&lt;$0.15)</a:t>
                      </a:r>
                      <a:br/>
                      <a:r>
                        <a:t>Client-side regex/WASM</a:t>
                      </a:r>
                    </a:p>
                  </a:txBody>
                  <a:tcPr anchor="ctr" marL="73152" marR="73152" marT="45720" marB="45720">
                    <a:solidFill>
                      <a:srgbClr val="0D6E44"/>
                    </a:solidFill>
                  </a:tcPr>
                </a:tc>
                <a:tc>
                  <a:txBody>
                    <a:bodyPr wrap="square"/>
                    <a:lstStyle/>
                    <a:p>
                      <a:pPr algn="ctr">
                        <a:defRPr sz="850" b="1">
                          <a:solidFill>
                            <a:srgbClr val="F8FAFC"/>
                          </a:solidFill>
                        </a:defRPr>
                      </a:pPr>
                      <a:r>
                        <a:t>99.4% Margin</a:t>
                      </a:r>
                      <a:br/>
                      <a:r>
                        <a:t>Edge execution</a:t>
                      </a:r>
                    </a:p>
                  </a:txBody>
                  <a:tcPr anchor="ctr" marL="73152" marR="73152" marT="45720" marB="45720">
                    <a:solidFill>
                      <a:srgbClr val="0D6E44"/>
                    </a:solidFill>
                  </a:tcPr>
                </a:tc>
                <a:tc>
                  <a:txBody>
                    <a:bodyPr wrap="square"/>
                    <a:lstStyle/>
                    <a:p>
                      <a:pPr algn="ctr">
                        <a:defRPr sz="850" b="1">
                          <a:solidFill>
                            <a:srgbClr val="F8FAFC"/>
                          </a:solidFill>
                        </a:defRPr>
                      </a:pPr>
                      <a:r>
                        <a:t>HIGH (Compliance Enabler)</a:t>
                      </a:r>
                      <a:br/>
                      <a:r>
                        <a:t>Required by security audits</a:t>
                      </a:r>
                    </a:p>
                  </a:txBody>
                  <a:tcPr anchor="ctr" marL="73152" marR="73152" marT="45720" marB="45720">
                    <a:solidFill>
                      <a:srgbClr val="148255"/>
                    </a:solidFill>
                  </a:tcPr>
                </a:tc>
              </a:tr>
              <a:tr h="447040">
                <a:tc>
                  <a:txBody>
                    <a:bodyPr wrap="square"/>
                    <a:lstStyle/>
                    <a:p>
                      <a:pPr algn="l">
                        <a:defRPr sz="900" b="1">
                          <a:solidFill>
                            <a:srgbClr val="F8FAFC"/>
                          </a:solidFill>
                        </a:defRPr>
                      </a:pPr>
                      <a:r>
                        <a:t>Self-Hosted Private Relay (VPC/On-Prem)</a:t>
                      </a:r>
                    </a:p>
                  </a:txBody>
                  <a:tcPr anchor="ctr" marL="73152" marR="73152" marT="45720" marB="45720">
                    <a:solidFill>
                      <a:srgbClr val="161B22"/>
                    </a:solidFill>
                  </a:tcPr>
                </a:tc>
                <a:tc>
                  <a:txBody>
                    <a:bodyPr wrap="square"/>
                    <a:lstStyle/>
                    <a:p>
                      <a:pPr algn="ctr">
                        <a:defRPr sz="850" b="1">
                          <a:solidFill>
                            <a:srgbClr val="F8FAFC"/>
                          </a:solidFill>
                        </a:defRPr>
                      </a:pPr>
                      <a:r>
                        <a:t>Enterprise ($55+/seat)</a:t>
                      </a:r>
                    </a:p>
                  </a:txBody>
                  <a:tcPr anchor="ctr" marL="73152" marR="73152" marT="45720" marB="45720">
                    <a:solidFill>
                      <a:srgbClr val="B4690C"/>
                    </a:solidFill>
                  </a:tcPr>
                </a:tc>
                <a:tc>
                  <a:txBody>
                    <a:bodyPr wrap="square"/>
                    <a:lstStyle/>
                    <a:p>
                      <a:pPr algn="ctr">
                        <a:defRPr sz="850" b="1">
                          <a:solidFill>
                            <a:srgbClr val="F8FAFC"/>
                          </a:solidFill>
                        </a:defRPr>
                      </a:pPr>
                      <a:r>
                        <a:t>Critical</a:t>
                      </a:r>
                      <a:br/>
                      <a:r>
                        <a:t>Zero outside transmission</a:t>
                      </a:r>
                    </a:p>
                  </a:txBody>
                  <a:tcPr anchor="ctr" marL="73152" marR="73152" marT="45720" marB="45720">
                    <a:solidFill>
                      <a:srgbClr val="0D6E44"/>
                    </a:solidFill>
                  </a:tcPr>
                </a:tc>
                <a:tc>
                  <a:txBody>
                    <a:bodyPr wrap="square"/>
                    <a:lstStyle/>
                    <a:p>
                      <a:pPr algn="ctr">
                        <a:defRPr sz="850" b="1">
                          <a:solidFill>
                            <a:srgbClr val="F8FAFC"/>
                          </a:solidFill>
                        </a:defRPr>
                      </a:pPr>
                      <a:r>
                        <a:t>Zero ($0)</a:t>
                      </a:r>
                      <a:br/>
                      <a:r>
                        <a:t>Customer's AWS/GCP infra</a:t>
                      </a:r>
                    </a:p>
                  </a:txBody>
                  <a:tcPr anchor="ctr" marL="73152" marR="73152" marT="45720" marB="45720">
                    <a:solidFill>
                      <a:srgbClr val="0D6E44"/>
                    </a:solidFill>
                  </a:tcPr>
                </a:tc>
                <a:tc>
                  <a:txBody>
                    <a:bodyPr wrap="square"/>
                    <a:lstStyle/>
                    <a:p>
                      <a:pPr algn="ctr">
                        <a:defRPr sz="850" b="1">
                          <a:solidFill>
                            <a:srgbClr val="F8FAFC"/>
                          </a:solidFill>
                        </a:defRPr>
                      </a:pPr>
                      <a:r>
                        <a:t>95.0% Margin</a:t>
                      </a:r>
                      <a:br/>
                      <a:r>
                        <a:t>Pure licensing fee</a:t>
                      </a:r>
                    </a:p>
                  </a:txBody>
                  <a:tcPr anchor="ctr" marL="73152" marR="73152" marT="45720" marB="45720">
                    <a:solidFill>
                      <a:srgbClr val="0D6E44"/>
                    </a:solidFill>
                  </a:tcPr>
                </a:tc>
                <a:tc>
                  <a:txBody>
                    <a:bodyPr wrap="square"/>
                    <a:lstStyle/>
                    <a:p>
                      <a:pPr algn="ctr">
                        <a:defRPr sz="850" b="1">
                          <a:solidFill>
                            <a:srgbClr val="F8FAFC"/>
                          </a:solidFill>
                        </a:defRPr>
                      </a:pPr>
                      <a:r>
                        <a:t>CRITICAL (Procurement Gate)</a:t>
                      </a:r>
                      <a:br/>
                      <a:r>
                        <a:t>Mandatory for regulated deals</a:t>
                      </a:r>
                    </a:p>
                  </a:txBody>
                  <a:tcPr anchor="ctr" marL="73152" marR="73152" marT="45720" marB="45720">
                    <a:solidFill>
                      <a:srgbClr val="0D6E44"/>
                    </a:solidFill>
                  </a:tcPr>
                </a:tc>
              </a:tr>
            </a:tbl>
          </a:graphicData>
        </a:graphic>
      </p:graphicFrame>
      <p:sp>
        <p:nvSpPr>
          <p:cNvPr id="8" name="Rounded Rectangle 7"/>
          <p:cNvSpPr/>
          <p:nvPr/>
        </p:nvSpPr>
        <p:spPr>
          <a:xfrm>
            <a:off x="731520" y="5532120"/>
            <a:ext cx="10728655" cy="868680"/>
          </a:xfrm>
          <a:prstGeom prst="roundRect">
            <a:avLst/>
          </a:prstGeom>
          <a:solidFill>
            <a:srgbClr val="141A24"/>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77840"/>
            <a:ext cx="10332720" cy="777240"/>
          </a:xfrm>
          <a:prstGeom prst="rect">
            <a:avLst/>
          </a:prstGeom>
          <a:noFill/>
        </p:spPr>
        <p:txBody>
          <a:bodyPr wrap="square">
            <a:spAutoFit/>
          </a:bodyPr>
          <a:lstStyle/>
          <a:p>
            <a:pPr>
              <a:defRPr sz="1000" b="1">
                <a:solidFill>
                  <a:srgbClr val="10B981"/>
                </a:solidFill>
              </a:defRPr>
            </a:pPr>
            <a:r>
              <a:t>EXECUTIVE TAKEAWAY ON UNIT MARGINS: </a:t>
            </a:r>
            <a:r>
              <a:rPr b="0">
                <a:solidFill>
                  <a:srgbClr val="F8FAFC"/>
                </a:solidFill>
              </a:rPr>
              <a:t>RelayAI does not pay for LLM inference tokens—the user's existing accounts (OpenAI, Anthropic) bear all compute costs. Relay operates purely as an encrypted synchronization and semantic normalization layer, delivering extraordinary 95-98% SaaS gross margins.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56032"/>
          </a:xfrm>
          <a:prstGeom prst="rect">
            <a:avLst/>
          </a:prstGeom>
          <a:noFill/>
        </p:spPr>
        <p:txBody>
          <a:bodyPr wrap="square" lIns="0" tIns="0" rIns="0" bIns="0">
            <a:spAutoFit/>
          </a:bodyPr>
          <a:lstStyle/>
          <a:p>
            <a:pPr>
              <a:defRPr sz="1000" b="1">
                <a:solidFill>
                  <a:srgbClr val="0EA5E9"/>
                </a:solidFill>
              </a:defRPr>
            </a:pPr>
            <a:r>
              <a:t>FINANCIAL VIABILITY &amp; COHORT METRICS</a:t>
            </a:r>
          </a:p>
        </p:txBody>
      </p:sp>
      <p:sp>
        <p:nvSpPr>
          <p:cNvPr id="4" name="TextBox 3"/>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defRPr>
            </a:pPr>
            <a:r>
              <a:t>Unit Economics &amp; Conservative Financial Model (No Exaggeration)</a:t>
            </a:r>
          </a:p>
        </p:txBody>
      </p:sp>
      <p:sp>
        <p:nvSpPr>
          <p:cNvPr id="5" name="TextBox 4"/>
          <p:cNvSpPr txBox="1"/>
          <p:nvPr/>
        </p:nvSpPr>
        <p:spPr>
          <a:xfrm>
            <a:off x="10698480" y="365760"/>
            <a:ext cx="822960" cy="274320"/>
          </a:xfrm>
          <a:prstGeom prst="rect">
            <a:avLst/>
          </a:prstGeom>
          <a:noFill/>
        </p:spPr>
        <p:txBody>
          <a:bodyPr wrap="none">
            <a:spAutoFit/>
          </a:bodyPr>
          <a:lstStyle/>
          <a:p>
            <a:pPr algn="r">
              <a:defRPr sz="1000" b="1">
                <a:solidFill>
                  <a:srgbClr val="64748B"/>
                </a:solidFill>
              </a:defRPr>
            </a:pPr>
            <a:r>
              <a:t>07 / 10</a:t>
            </a:r>
          </a:p>
        </p:txBody>
      </p:sp>
      <p:sp>
        <p:nvSpPr>
          <p:cNvPr id="6" name="Rectangle 5"/>
          <p:cNvSpPr/>
          <p:nvPr/>
        </p:nvSpPr>
        <p:spPr>
          <a:xfrm>
            <a:off x="731520" y="1188720"/>
            <a:ext cx="10728655"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371600"/>
            <a:ext cx="5212080" cy="49377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4846320" cy="292608"/>
          </a:xfrm>
          <a:prstGeom prst="rect">
            <a:avLst/>
          </a:prstGeom>
          <a:noFill/>
        </p:spPr>
        <p:txBody>
          <a:bodyPr wrap="square" lIns="0" tIns="0" rIns="0" bIns="0">
            <a:spAutoFit/>
          </a:bodyPr>
          <a:lstStyle/>
          <a:p>
            <a:pPr>
              <a:defRPr sz="1300" b="1">
                <a:solidFill>
                  <a:srgbClr val="F8FAFC"/>
                </a:solidFill>
              </a:defRPr>
            </a:pPr>
            <a:r>
              <a:t>SaaS Unit Economics Breakdown</a:t>
            </a:r>
          </a:p>
        </p:txBody>
      </p:sp>
      <p:sp>
        <p:nvSpPr>
          <p:cNvPr id="9" name="TextBox 8"/>
          <p:cNvSpPr txBox="1"/>
          <p:nvPr/>
        </p:nvSpPr>
        <p:spPr>
          <a:xfrm>
            <a:off x="914400" y="1828800"/>
            <a:ext cx="4846320" cy="4297680"/>
          </a:xfrm>
          <a:prstGeom prst="rect">
            <a:avLst/>
          </a:prstGeom>
          <a:noFill/>
        </p:spPr>
        <p:txBody>
          <a:bodyPr wrap="square" lIns="0" tIns="0" rIns="0" bIns="0">
            <a:spAutoFit/>
          </a:bodyPr>
          <a:lstStyle/>
          <a:p>
            <a:pPr>
              <a:spcAft>
                <a:spcPts val="400"/>
              </a:spcAft>
              <a:defRPr sz="1100" b="1">
                <a:solidFill>
                  <a:srgbClr val="0EA5E9"/>
                </a:solidFill>
              </a:defRPr>
            </a:pPr>
            <a:r>
              <a:t>RELAY PRO ($12/MO INDIVIDUAL)</a:t>
            </a:r>
          </a:p>
          <a:p>
            <a:pPr>
              <a:spcAft>
                <a:spcPts val="200"/>
              </a:spcAft>
              <a:defRPr sz="850" b="1">
                <a:solidFill>
                  <a:srgbClr val="F8FAFC"/>
                </a:solidFill>
              </a:defRPr>
            </a:pPr>
            <a:r>
              <a:t>• Blended Monthly ARPU: </a:t>
            </a:r>
            <a:r>
              <a:rPr b="0">
                <a:solidFill>
                  <a:srgbClr val="94A3B8"/>
                </a:solidFill>
              </a:rPr>
              <a:t>$11.20 (Factoring 35% annual upfront discount)</a:t>
            </a:r>
          </a:p>
          <a:p>
            <a:pPr>
              <a:spcAft>
                <a:spcPts val="200"/>
              </a:spcAft>
              <a:defRPr sz="850" b="1">
                <a:solidFill>
                  <a:srgbClr val="F8FAFC"/>
                </a:solidFill>
              </a:defRPr>
            </a:pPr>
            <a:r>
              <a:t>• Direct COGS per Active User: </a:t>
            </a:r>
            <a:r>
              <a:rPr b="0">
                <a:solidFill>
                  <a:srgbClr val="94A3B8"/>
                </a:solidFill>
              </a:rPr>
              <a:t>$0.48 / mo (Encrypted sync storage, DB, auth)</a:t>
            </a:r>
          </a:p>
          <a:p>
            <a:pPr>
              <a:spcAft>
                <a:spcPts val="200"/>
              </a:spcAft>
              <a:defRPr sz="850" b="1">
                <a:solidFill>
                  <a:srgbClr val="F8FAFC"/>
                </a:solidFill>
              </a:defRPr>
            </a:pPr>
            <a:r>
              <a:t>• Net Gross Margin: </a:t>
            </a:r>
            <a:r>
              <a:rPr b="0">
                <a:solidFill>
                  <a:srgbClr val="94A3B8"/>
                </a:solidFill>
              </a:rPr>
              <a:t>95.7% (Extremely capital efficient)</a:t>
            </a:r>
          </a:p>
          <a:p>
            <a:pPr>
              <a:spcAft>
                <a:spcPts val="200"/>
              </a:spcAft>
              <a:defRPr sz="850" b="1">
                <a:solidFill>
                  <a:srgbClr val="F8FAFC"/>
                </a:solidFill>
              </a:defRPr>
            </a:pPr>
            <a:r>
              <a:t>• Monthly Churn Rate: </a:t>
            </a:r>
            <a:r>
              <a:rPr b="0">
                <a:solidFill>
                  <a:srgbClr val="94A3B8"/>
                </a:solidFill>
              </a:rPr>
              <a:t>3.2% (Grounded benchmark for solo dev tools)</a:t>
            </a:r>
          </a:p>
          <a:p>
            <a:pPr>
              <a:spcAft>
                <a:spcPts val="200"/>
              </a:spcAft>
              <a:defRPr sz="850" b="1">
                <a:solidFill>
                  <a:srgbClr val="F8FAFC"/>
                </a:solidFill>
              </a:defRPr>
            </a:pPr>
            <a:r>
              <a:t>• Customer Lifetime (1/Churn): </a:t>
            </a:r>
            <a:r>
              <a:rPr b="0">
                <a:solidFill>
                  <a:srgbClr val="94A3B8"/>
                </a:solidFill>
              </a:rPr>
              <a:t>~31.2 Months</a:t>
            </a:r>
          </a:p>
          <a:p>
            <a:pPr>
              <a:spcAft>
                <a:spcPts val="200"/>
              </a:spcAft>
              <a:defRPr sz="850" b="1">
                <a:solidFill>
                  <a:srgbClr val="F8FAFC"/>
                </a:solidFill>
              </a:defRPr>
            </a:pPr>
            <a:r>
              <a:t>• Customer Lifetime Value (LTV): </a:t>
            </a:r>
            <a:r>
              <a:rPr b="0">
                <a:solidFill>
                  <a:srgbClr val="94A3B8"/>
                </a:solidFill>
              </a:rPr>
              <a:t>$334 Net Contribution</a:t>
            </a:r>
          </a:p>
          <a:p>
            <a:pPr>
              <a:spcAft>
                <a:spcPts val="200"/>
              </a:spcAft>
              <a:defRPr sz="850" b="1">
                <a:solidFill>
                  <a:srgbClr val="F8FAFC"/>
                </a:solidFill>
              </a:defRPr>
            </a:pPr>
            <a:r>
              <a:t>• Customer Acquisition Cost (CAC): </a:t>
            </a:r>
            <a:r>
              <a:rPr b="0">
                <a:solidFill>
                  <a:srgbClr val="94A3B8"/>
                </a:solidFill>
              </a:rPr>
              <a:t>$62 (Organic GitHub + Extension store PLG)</a:t>
            </a:r>
          </a:p>
          <a:p>
            <a:pPr>
              <a:spcAft>
                <a:spcPts val="200"/>
              </a:spcAft>
              <a:defRPr sz="850" b="1">
                <a:solidFill>
                  <a:srgbClr val="F8FAFC"/>
                </a:solidFill>
              </a:defRPr>
            </a:pPr>
            <a:r>
              <a:t>• LTV : CAC Ratio: </a:t>
            </a:r>
            <a:r>
              <a:rPr b="0">
                <a:solidFill>
                  <a:srgbClr val="94A3B8"/>
                </a:solidFill>
              </a:rPr>
              <a:t>5.4x (Healthy developer SaaS benchmark)</a:t>
            </a:r>
          </a:p>
          <a:p>
            <a:pPr>
              <a:spcAft>
                <a:spcPts val="800"/>
              </a:spcAft>
            </a:pPr>
          </a:p>
          <a:p>
            <a:pPr>
              <a:spcAft>
                <a:spcPts val="400"/>
              </a:spcAft>
              <a:defRPr sz="1100" b="1">
                <a:solidFill>
                  <a:srgbClr val="10B981"/>
                </a:solidFill>
              </a:defRPr>
            </a:pPr>
            <a:r>
              <a:t>RELAY TEAM ($28/SEAT/MO — AVG 5-SEAT SQUAD)</a:t>
            </a:r>
          </a:p>
          <a:p>
            <a:pPr>
              <a:spcAft>
                <a:spcPts val="200"/>
              </a:spcAft>
              <a:defRPr sz="850" b="1">
                <a:solidFill>
                  <a:srgbClr val="F8FAFC"/>
                </a:solidFill>
              </a:defRPr>
            </a:pPr>
            <a:r>
              <a:t>• Average Team ARPU: </a:t>
            </a:r>
            <a:r>
              <a:rPr b="0">
                <a:solidFill>
                  <a:srgbClr val="94A3B8"/>
                </a:solidFill>
              </a:rPr>
              <a:t>$140.00 / mo ($1,680 / yr)</a:t>
            </a:r>
          </a:p>
          <a:p>
            <a:pPr>
              <a:spcAft>
                <a:spcPts val="200"/>
              </a:spcAft>
              <a:defRPr sz="850" b="1">
                <a:solidFill>
                  <a:srgbClr val="F8FAFC"/>
                </a:solidFill>
              </a:defRPr>
            </a:pPr>
            <a:r>
              <a:t>• Direct COGS per Team: </a:t>
            </a:r>
            <a:r>
              <a:rPr b="0">
                <a:solidFill>
                  <a:srgbClr val="94A3B8"/>
                </a:solidFill>
              </a:rPr>
              <a:t>$2.80 / mo (Audit logging &amp; git sync hooks)</a:t>
            </a:r>
          </a:p>
          <a:p>
            <a:pPr>
              <a:spcAft>
                <a:spcPts val="200"/>
              </a:spcAft>
              <a:defRPr sz="850" b="1">
                <a:solidFill>
                  <a:srgbClr val="F8FAFC"/>
                </a:solidFill>
              </a:defRPr>
            </a:pPr>
            <a:r>
              <a:t>• Net Gross Margin: </a:t>
            </a:r>
            <a:r>
              <a:rPr b="0">
                <a:solidFill>
                  <a:srgbClr val="94A3B8"/>
                </a:solidFill>
              </a:rPr>
              <a:t>98.0%</a:t>
            </a:r>
          </a:p>
          <a:p>
            <a:pPr>
              <a:spcAft>
                <a:spcPts val="200"/>
              </a:spcAft>
              <a:defRPr sz="850" b="1">
                <a:solidFill>
                  <a:srgbClr val="F8FAFC"/>
                </a:solidFill>
              </a:defRPr>
            </a:pPr>
            <a:r>
              <a:t>• Monthly Team Churn Rate: </a:t>
            </a:r>
            <a:r>
              <a:rPr b="0">
                <a:solidFill>
                  <a:srgbClr val="94A3B8"/>
                </a:solidFill>
              </a:rPr>
              <a:t>1.1% (High stickiness via repo-wide rules)</a:t>
            </a:r>
          </a:p>
          <a:p>
            <a:pPr>
              <a:spcAft>
                <a:spcPts val="200"/>
              </a:spcAft>
              <a:defRPr sz="850" b="1">
                <a:solidFill>
                  <a:srgbClr val="F8FAFC"/>
                </a:solidFill>
              </a:defRPr>
            </a:pPr>
            <a:r>
              <a:t>• Customer Lifetime Value (LTV): </a:t>
            </a:r>
            <a:r>
              <a:rPr b="0">
                <a:solidFill>
                  <a:srgbClr val="94A3B8"/>
                </a:solidFill>
              </a:rPr>
              <a:t>$12,470 per team account</a:t>
            </a:r>
          </a:p>
          <a:p>
            <a:pPr>
              <a:spcAft>
                <a:spcPts val="200"/>
              </a:spcAft>
              <a:defRPr sz="850" b="1">
                <a:solidFill>
                  <a:srgbClr val="F8FAFC"/>
                </a:solidFill>
              </a:defRPr>
            </a:pPr>
            <a:r>
              <a:t>• Team Acquisition CAC: </a:t>
            </a:r>
            <a:r>
              <a:rPr b="0">
                <a:solidFill>
                  <a:srgbClr val="94A3B8"/>
                </a:solidFill>
              </a:rPr>
              <a:t>$380 (Inbound content, developer word-of-mouth)</a:t>
            </a:r>
          </a:p>
          <a:p>
            <a:pPr>
              <a:spcAft>
                <a:spcPts val="200"/>
              </a:spcAft>
              <a:defRPr sz="850" b="1">
                <a:solidFill>
                  <a:srgbClr val="F8FAFC"/>
                </a:solidFill>
              </a:defRPr>
            </a:pPr>
            <a:r>
              <a:t>• LTV : CAC Ratio (Capped at 36mo): </a:t>
            </a:r>
            <a:r>
              <a:rPr b="0">
                <a:solidFill>
                  <a:srgbClr val="94A3B8"/>
                </a:solidFill>
              </a:rPr>
              <a:t>12.8x (Superb team expansion dynamics)</a:t>
            </a:r>
          </a:p>
        </p:txBody>
      </p:sp>
      <p:sp>
        <p:nvSpPr>
          <p:cNvPr id="10" name="Rounded Rectangle 9"/>
          <p:cNvSpPr/>
          <p:nvPr/>
        </p:nvSpPr>
        <p:spPr>
          <a:xfrm>
            <a:off x="6217920" y="1371600"/>
            <a:ext cx="5242255" cy="493776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36192"/>
            <a:ext cx="4876495" cy="292608"/>
          </a:xfrm>
          <a:prstGeom prst="rect">
            <a:avLst/>
          </a:prstGeom>
          <a:noFill/>
        </p:spPr>
        <p:txBody>
          <a:bodyPr wrap="square" lIns="0" tIns="0" rIns="0" bIns="0">
            <a:spAutoFit/>
          </a:bodyPr>
          <a:lstStyle/>
          <a:p>
            <a:pPr>
              <a:defRPr sz="1300" b="1">
                <a:solidFill>
                  <a:srgbClr val="F8FAFC"/>
                </a:solidFill>
              </a:defRPr>
            </a:pPr>
            <a:r>
              <a:t>Grounded 3-Year ARR Trajectory (Zero Hype)</a:t>
            </a:r>
          </a:p>
        </p:txBody>
      </p:sp>
      <p:sp>
        <p:nvSpPr>
          <p:cNvPr id="12" name="TextBox 11"/>
          <p:cNvSpPr txBox="1"/>
          <p:nvPr/>
        </p:nvSpPr>
        <p:spPr>
          <a:xfrm>
            <a:off x="6400800" y="1828800"/>
            <a:ext cx="4846320" cy="4297680"/>
          </a:xfrm>
          <a:prstGeom prst="rect">
            <a:avLst/>
          </a:prstGeom>
          <a:noFill/>
        </p:spPr>
        <p:txBody>
          <a:bodyPr wrap="square" lIns="0" tIns="0" rIns="0" bIns="0">
            <a:spAutoFit/>
          </a:bodyPr>
          <a:lstStyle/>
          <a:p>
            <a:pPr>
              <a:spcAft>
                <a:spcPts val="300"/>
              </a:spcAft>
              <a:defRPr sz="1100" b="1">
                <a:solidFill>
                  <a:srgbClr val="0EA5E9"/>
                </a:solidFill>
              </a:defRPr>
            </a:pPr>
            <a:r>
              <a:t>YEAR 1: FOUNDATION &amp; BOOTSTRAPPING</a:t>
            </a:r>
          </a:p>
          <a:p>
            <a:pPr>
              <a:spcAft>
                <a:spcPts val="200"/>
              </a:spcAft>
              <a:defRPr sz="850" b="1">
                <a:solidFill>
                  <a:srgbClr val="F8FAFC"/>
                </a:solidFill>
              </a:defRPr>
            </a:pPr>
            <a:r>
              <a:t>• Free Open-Source Base: </a:t>
            </a:r>
            <a:r>
              <a:rPr b="0">
                <a:solidFill>
                  <a:srgbClr val="94A3B8"/>
                </a:solidFill>
              </a:rPr>
              <a:t>25,000 Total Active Developers</a:t>
            </a:r>
          </a:p>
          <a:p>
            <a:pPr>
              <a:spcAft>
                <a:spcPts val="200"/>
              </a:spcAft>
              <a:defRPr sz="850" b="1">
                <a:solidFill>
                  <a:srgbClr val="F8FAFC"/>
                </a:solidFill>
              </a:defRPr>
            </a:pPr>
            <a:r>
              <a:t>• Paid Pro Subscribers: </a:t>
            </a:r>
            <a:r>
              <a:rPr b="0">
                <a:solidFill>
                  <a:srgbClr val="94A3B8"/>
                </a:solidFill>
              </a:rPr>
              <a:t>750 Users @ $12/mo  →  $108,000 ARR</a:t>
            </a:r>
          </a:p>
          <a:p>
            <a:pPr>
              <a:spcAft>
                <a:spcPts val="200"/>
              </a:spcAft>
              <a:defRPr sz="850" b="1">
                <a:solidFill>
                  <a:srgbClr val="F8FAFC"/>
                </a:solidFill>
              </a:defRPr>
            </a:pPr>
            <a:r>
              <a:t>• Paid Team Accounts: </a:t>
            </a:r>
            <a:r>
              <a:rPr b="0">
                <a:solidFill>
                  <a:srgbClr val="94A3B8"/>
                </a:solidFill>
              </a:rPr>
              <a:t>40 Teams (200 seats) @ $28/mo  →  $67,200 ARR</a:t>
            </a:r>
          </a:p>
          <a:p>
            <a:pPr>
              <a:spcAft>
                <a:spcPts val="200"/>
              </a:spcAft>
              <a:defRPr sz="850" b="1">
                <a:solidFill>
                  <a:srgbClr val="F8FAFC"/>
                </a:solidFill>
              </a:defRPr>
            </a:pPr>
            <a:r>
              <a:t>• Total Year 1 ARR: </a:t>
            </a:r>
            <a:r>
              <a:rPr b="0">
                <a:solidFill>
                  <a:srgbClr val="94A3B8"/>
                </a:solidFill>
              </a:rPr>
              <a:t>$175,200 ARR (Cash-flow break-even for lean core team)</a:t>
            </a:r>
          </a:p>
          <a:p>
            <a:pPr>
              <a:spcAft>
                <a:spcPts val="200"/>
              </a:spcAft>
              <a:defRPr sz="850" b="1">
                <a:solidFill>
                  <a:srgbClr val="F8FAFC"/>
                </a:solidFill>
              </a:defRPr>
            </a:pPr>
            <a:r>
              <a:t>• Server &amp; Infra Overhead: </a:t>
            </a:r>
            <a:r>
              <a:rPr b="0">
                <a:solidFill>
                  <a:srgbClr val="94A3B8"/>
                </a:solidFill>
              </a:rPr>
              <a:t>&lt; $1,200 / month (Local-first architecture)</a:t>
            </a:r>
          </a:p>
          <a:p>
            <a:pPr>
              <a:spcAft>
                <a:spcPts val="600"/>
              </a:spcAft>
            </a:pPr>
          </a:p>
          <a:p>
            <a:pPr>
              <a:spcAft>
                <a:spcPts val="300"/>
              </a:spcAft>
              <a:defRPr sz="1100" b="1">
                <a:solidFill>
                  <a:srgbClr val="10B981"/>
                </a:solidFill>
              </a:defRPr>
            </a:pPr>
            <a:r>
              <a:t>YEAR 2: PLG EXPANSION &amp; VIRAL LOOPS</a:t>
            </a:r>
          </a:p>
          <a:p>
            <a:pPr>
              <a:spcAft>
                <a:spcPts val="200"/>
              </a:spcAft>
              <a:defRPr sz="850" b="1">
                <a:solidFill>
                  <a:srgbClr val="F8FAFC"/>
                </a:solidFill>
              </a:defRPr>
            </a:pPr>
            <a:r>
              <a:t>• Free Open-Source Base: </a:t>
            </a:r>
            <a:r>
              <a:rPr b="0">
                <a:solidFill>
                  <a:srgbClr val="94A3B8"/>
                </a:solidFill>
              </a:rPr>
              <a:t>85,000 Active Developers</a:t>
            </a:r>
          </a:p>
          <a:p>
            <a:pPr>
              <a:spcAft>
                <a:spcPts val="200"/>
              </a:spcAft>
              <a:defRPr sz="850" b="1">
                <a:solidFill>
                  <a:srgbClr val="F8FAFC"/>
                </a:solidFill>
              </a:defRPr>
            </a:pPr>
            <a:r>
              <a:t>• Paid Pro Subscribers: </a:t>
            </a:r>
            <a:r>
              <a:rPr b="0">
                <a:solidFill>
                  <a:srgbClr val="94A3B8"/>
                </a:solidFill>
              </a:rPr>
              <a:t>2,400 Users @ $12/mo  →  $345,600 ARR</a:t>
            </a:r>
          </a:p>
          <a:p>
            <a:pPr>
              <a:spcAft>
                <a:spcPts val="200"/>
              </a:spcAft>
              <a:defRPr sz="850" b="1">
                <a:solidFill>
                  <a:srgbClr val="F8FAFC"/>
                </a:solidFill>
              </a:defRPr>
            </a:pPr>
            <a:r>
              <a:t>• Paid Team Accounts: </a:t>
            </a:r>
            <a:r>
              <a:rPr b="0">
                <a:solidFill>
                  <a:srgbClr val="94A3B8"/>
                </a:solidFill>
              </a:rPr>
              <a:t>160 Teams (880 seats) @ $28/mo  →  $295,680 ARR</a:t>
            </a:r>
          </a:p>
          <a:p>
            <a:pPr>
              <a:spcAft>
                <a:spcPts val="200"/>
              </a:spcAft>
              <a:defRPr sz="850" b="1">
                <a:solidFill>
                  <a:srgbClr val="F8FAFC"/>
                </a:solidFill>
              </a:defRPr>
            </a:pPr>
            <a:r>
              <a:t>• Enterprise Pilots: </a:t>
            </a:r>
            <a:r>
              <a:rPr b="0">
                <a:solidFill>
                  <a:srgbClr val="94A3B8"/>
                </a:solidFill>
              </a:rPr>
              <a:t>5 Mid-Market Deals  →  $45,000 ARR</a:t>
            </a:r>
          </a:p>
          <a:p>
            <a:pPr>
              <a:spcAft>
                <a:spcPts val="200"/>
              </a:spcAft>
              <a:defRPr sz="850" b="1">
                <a:solidFill>
                  <a:srgbClr val="F8FAFC"/>
                </a:solidFill>
              </a:defRPr>
            </a:pPr>
            <a:r>
              <a:t>• Total Year 2 ARR: </a:t>
            </a:r>
            <a:r>
              <a:rPr b="0">
                <a:solidFill>
                  <a:srgbClr val="94A3B8"/>
                </a:solidFill>
              </a:rPr>
              <a:t>$686,280 ARR (Healthy profitable developer tools business)</a:t>
            </a:r>
          </a:p>
          <a:p>
            <a:pPr>
              <a:spcAft>
                <a:spcPts val="600"/>
              </a:spcAft>
            </a:pPr>
          </a:p>
          <a:p>
            <a:pPr>
              <a:spcAft>
                <a:spcPts val="300"/>
              </a:spcAft>
              <a:defRPr sz="1100" b="1">
                <a:solidFill>
                  <a:srgbClr val="F59E0B"/>
                </a:solidFill>
              </a:defRPr>
            </a:pPr>
            <a:r>
              <a:t>YEAR 3: ENTERPRISE &amp; TEAM SCALE</a:t>
            </a:r>
          </a:p>
          <a:p>
            <a:pPr>
              <a:spcAft>
                <a:spcPts val="200"/>
              </a:spcAft>
              <a:defRPr sz="850" b="1">
                <a:solidFill>
                  <a:srgbClr val="F8FAFC"/>
                </a:solidFill>
              </a:defRPr>
            </a:pPr>
            <a:r>
              <a:t>• Free Open-Source Base: </a:t>
            </a:r>
            <a:r>
              <a:rPr b="0">
                <a:solidFill>
                  <a:srgbClr val="94A3B8"/>
                </a:solidFill>
              </a:rPr>
              <a:t>220,000 Active Developers</a:t>
            </a:r>
          </a:p>
          <a:p>
            <a:pPr>
              <a:spcAft>
                <a:spcPts val="200"/>
              </a:spcAft>
              <a:defRPr sz="850" b="1">
                <a:solidFill>
                  <a:srgbClr val="F8FAFC"/>
                </a:solidFill>
              </a:defRPr>
            </a:pPr>
            <a:r>
              <a:t>• Paid Pro Subscribers: </a:t>
            </a:r>
            <a:r>
              <a:rPr b="0">
                <a:solidFill>
                  <a:srgbClr val="94A3B8"/>
                </a:solidFill>
              </a:rPr>
              <a:t>5,200 Users @ $12/mo  →  $748,800 ARR</a:t>
            </a:r>
          </a:p>
          <a:p>
            <a:pPr>
              <a:spcAft>
                <a:spcPts val="200"/>
              </a:spcAft>
              <a:defRPr sz="850" b="1">
                <a:solidFill>
                  <a:srgbClr val="F8FAFC"/>
                </a:solidFill>
              </a:defRPr>
            </a:pPr>
            <a:r>
              <a:t>• Paid Team Accounts: </a:t>
            </a:r>
            <a:r>
              <a:rPr b="0">
                <a:solidFill>
                  <a:srgbClr val="94A3B8"/>
                </a:solidFill>
              </a:rPr>
              <a:t>420 Teams (2,300 seats) @ $28/mo  →  $772,800 ARR</a:t>
            </a:r>
          </a:p>
          <a:p>
            <a:pPr>
              <a:spcAft>
                <a:spcPts val="200"/>
              </a:spcAft>
              <a:defRPr sz="850" b="1">
                <a:solidFill>
                  <a:srgbClr val="F8FAFC"/>
                </a:solidFill>
              </a:defRPr>
            </a:pPr>
            <a:r>
              <a:t>• Enterprise Contracts: </a:t>
            </a:r>
            <a:r>
              <a:rPr b="0">
                <a:solidFill>
                  <a:srgbClr val="94A3B8"/>
                </a:solidFill>
              </a:rPr>
              <a:t>18 Enterprise Deals @ $55/seat  →  $215,000 ARR</a:t>
            </a:r>
          </a:p>
          <a:p>
            <a:pPr>
              <a:spcAft>
                <a:spcPts val="200"/>
              </a:spcAft>
              <a:defRPr sz="850" b="1">
                <a:solidFill>
                  <a:srgbClr val="F8FAFC"/>
                </a:solidFill>
              </a:defRPr>
            </a:pPr>
            <a:r>
              <a:t>• Total Year 3 ARR: </a:t>
            </a:r>
            <a:r>
              <a:rPr b="0">
                <a:solidFill>
                  <a:srgbClr val="94A3B8"/>
                </a:solidFill>
              </a:rPr>
              <a:t>$1,736,600 ARR (High-growth, cash-flow positive company)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56032"/>
          </a:xfrm>
          <a:prstGeom prst="rect">
            <a:avLst/>
          </a:prstGeom>
          <a:noFill/>
        </p:spPr>
        <p:txBody>
          <a:bodyPr wrap="square" lIns="0" tIns="0" rIns="0" bIns="0">
            <a:spAutoFit/>
          </a:bodyPr>
          <a:lstStyle/>
          <a:p>
            <a:pPr>
              <a:defRPr sz="1000" b="1">
                <a:solidFill>
                  <a:srgbClr val="0EA5E9"/>
                </a:solidFill>
              </a:defRPr>
            </a:pPr>
            <a:r>
              <a:t>DISTRIBUTION &amp; ACQUISITION FLYWHEEL</a:t>
            </a:r>
          </a:p>
        </p:txBody>
      </p:sp>
      <p:sp>
        <p:nvSpPr>
          <p:cNvPr id="4" name="TextBox 3"/>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defRPr>
            </a:pPr>
            <a:r>
              <a:t>Go-To-Market Engine: Product-Led Growth (PLG) Distribution</a:t>
            </a:r>
          </a:p>
        </p:txBody>
      </p:sp>
      <p:sp>
        <p:nvSpPr>
          <p:cNvPr id="5" name="TextBox 4"/>
          <p:cNvSpPr txBox="1"/>
          <p:nvPr/>
        </p:nvSpPr>
        <p:spPr>
          <a:xfrm>
            <a:off x="10698480" y="365760"/>
            <a:ext cx="822960" cy="274320"/>
          </a:xfrm>
          <a:prstGeom prst="rect">
            <a:avLst/>
          </a:prstGeom>
          <a:noFill/>
        </p:spPr>
        <p:txBody>
          <a:bodyPr wrap="none">
            <a:spAutoFit/>
          </a:bodyPr>
          <a:lstStyle/>
          <a:p>
            <a:pPr algn="r">
              <a:defRPr sz="1000" b="1">
                <a:solidFill>
                  <a:srgbClr val="64748B"/>
                </a:solidFill>
              </a:defRPr>
            </a:pPr>
            <a:r>
              <a:t>08 / 10</a:t>
            </a:r>
          </a:p>
        </p:txBody>
      </p:sp>
      <p:sp>
        <p:nvSpPr>
          <p:cNvPr id="6" name="Rectangle 5"/>
          <p:cNvSpPr/>
          <p:nvPr/>
        </p:nvSpPr>
        <p:spPr>
          <a:xfrm>
            <a:off x="731520" y="1188720"/>
            <a:ext cx="10728655"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2514600" cy="38404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63040"/>
            <a:ext cx="25146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600200"/>
            <a:ext cx="2185416" cy="868680"/>
          </a:xfrm>
          <a:prstGeom prst="rect">
            <a:avLst/>
          </a:prstGeom>
          <a:noFill/>
        </p:spPr>
        <p:txBody>
          <a:bodyPr wrap="square" lIns="0" tIns="0" rIns="0" bIns="0">
            <a:spAutoFit/>
          </a:bodyPr>
          <a:lstStyle/>
          <a:p>
            <a:pPr>
              <a:defRPr sz="950" b="1">
                <a:solidFill>
                  <a:srgbClr val="0EA5E9"/>
                </a:solidFill>
              </a:defRPr>
            </a:pPr>
            <a:r>
              <a:t>STAGE 1</a:t>
            </a:r>
          </a:p>
          <a:p>
            <a:pPr>
              <a:spcAft>
                <a:spcPts val="200"/>
              </a:spcAft>
              <a:defRPr sz="1300" b="1">
                <a:solidFill>
                  <a:srgbClr val="F8FAFC"/>
                </a:solidFill>
              </a:defRPr>
            </a:pPr>
            <a:r>
              <a:t>Open Standard Adoption</a:t>
            </a:r>
          </a:p>
          <a:p>
            <a:pPr>
              <a:defRPr sz="850">
                <a:solidFill>
                  <a:srgbClr val="64748B"/>
                </a:solidFill>
              </a:defRPr>
            </a:pPr>
            <a:r>
              <a:t>Top-of-Funnel Discovery</a:t>
            </a:r>
          </a:p>
        </p:txBody>
      </p:sp>
      <p:sp>
        <p:nvSpPr>
          <p:cNvPr id="10" name="Rectangle 9"/>
          <p:cNvSpPr/>
          <p:nvPr/>
        </p:nvSpPr>
        <p:spPr>
          <a:xfrm>
            <a:off x="896112" y="2514600"/>
            <a:ext cx="2185416"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633472"/>
            <a:ext cx="2185416" cy="2560320"/>
          </a:xfrm>
          <a:prstGeom prst="rect">
            <a:avLst/>
          </a:prstGeom>
          <a:noFill/>
        </p:spPr>
        <p:txBody>
          <a:bodyPr wrap="square" lIns="0" tIns="0" rIns="0" bIns="0">
            <a:spAutoFit/>
          </a:bodyPr>
          <a:lstStyle/>
          <a:p>
            <a:pPr>
              <a:spcAft>
                <a:spcPts val="800"/>
              </a:spcAft>
              <a:defRPr sz="880" b="1">
                <a:solidFill>
                  <a:srgbClr val="F8FAFC"/>
                </a:solidFill>
              </a:defRPr>
            </a:pPr>
            <a:r>
              <a:t>• Apache 2.0 Spec Release: </a:t>
            </a:r>
            <a:r>
              <a:rPr b="0">
                <a:solidFill>
                  <a:srgbClr val="94A3B8"/>
                </a:solidFill>
              </a:rPr>
              <a:t>Publish ums-v1.json specification openly on GitHub</a:t>
            </a:r>
          </a:p>
          <a:p>
            <a:pPr>
              <a:spcAft>
                <a:spcPts val="800"/>
              </a:spcAft>
              <a:defRPr sz="880" b="1">
                <a:solidFill>
                  <a:srgbClr val="F8FAFC"/>
                </a:solidFill>
              </a:defRPr>
            </a:pPr>
            <a:r>
              <a:t>• Zero-Dependency CLI: </a:t>
            </a:r>
            <a:r>
              <a:rPr b="0">
                <a:solidFill>
                  <a:srgbClr val="94A3B8"/>
                </a:solidFill>
              </a:rPr>
              <a:t>Developers use cli.py without installing bloated node_modules or pip packages</a:t>
            </a:r>
          </a:p>
          <a:p>
            <a:pPr>
              <a:spcAft>
                <a:spcPts val="800"/>
              </a:spcAft>
              <a:defRPr sz="880" b="1">
                <a:solidFill>
                  <a:srgbClr val="F8FAFC"/>
                </a:solidFill>
              </a:defRPr>
            </a:pPr>
            <a:r>
              <a:t>• Developer Trust: </a:t>
            </a:r>
            <a:r>
              <a:rPr b="0">
                <a:solidFill>
                  <a:srgbClr val="94A3B8"/>
                </a:solidFill>
              </a:rPr>
              <a:t>100% local-first privacy (ums_vault.db); zero corporate telemetry</a:t>
            </a:r>
          </a:p>
          <a:p>
            <a:pPr>
              <a:spcAft>
                <a:spcPts val="800"/>
              </a:spcAft>
              <a:defRPr sz="880" b="1">
                <a:solidFill>
                  <a:srgbClr val="F8FAFC"/>
                </a:solidFill>
              </a:defRPr>
            </a:pPr>
            <a:r>
              <a:t>• Organic Buzz: </a:t>
            </a:r>
            <a:r>
              <a:rPr b="0">
                <a:solidFill>
                  <a:srgbClr val="94A3B8"/>
                </a:solidFill>
              </a:rPr>
              <a:t>Hacker News Show HN, Reddit r/LocalLLaMA, Twitter/X technical threads</a:t>
            </a:r>
          </a:p>
        </p:txBody>
      </p:sp>
      <p:sp>
        <p:nvSpPr>
          <p:cNvPr id="12" name="Rounded Rectangle 11"/>
          <p:cNvSpPr/>
          <p:nvPr/>
        </p:nvSpPr>
        <p:spPr>
          <a:xfrm>
            <a:off x="3465576" y="1463040"/>
            <a:ext cx="2514600" cy="38404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65576" y="1463040"/>
            <a:ext cx="25146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0168" y="1600200"/>
            <a:ext cx="2185416" cy="868680"/>
          </a:xfrm>
          <a:prstGeom prst="rect">
            <a:avLst/>
          </a:prstGeom>
          <a:noFill/>
        </p:spPr>
        <p:txBody>
          <a:bodyPr wrap="square" lIns="0" tIns="0" rIns="0" bIns="0">
            <a:spAutoFit/>
          </a:bodyPr>
          <a:lstStyle/>
          <a:p>
            <a:pPr>
              <a:defRPr sz="950" b="1">
                <a:solidFill>
                  <a:srgbClr val="10B981"/>
                </a:solidFill>
              </a:defRPr>
            </a:pPr>
            <a:r>
              <a:t>STAGE 2</a:t>
            </a:r>
          </a:p>
          <a:p>
            <a:pPr>
              <a:spcAft>
                <a:spcPts val="200"/>
              </a:spcAft>
              <a:defRPr sz="1300" b="1">
                <a:solidFill>
                  <a:srgbClr val="F8FAFC"/>
                </a:solidFill>
              </a:defRPr>
            </a:pPr>
            <a:r>
              <a:t>Frictionless Extension</a:t>
            </a:r>
          </a:p>
          <a:p>
            <a:pPr>
              <a:defRPr sz="850">
                <a:solidFill>
                  <a:srgbClr val="64748B"/>
                </a:solidFill>
              </a:defRPr>
            </a:pPr>
            <a:r>
              <a:t>Daily Active Engagement</a:t>
            </a:r>
          </a:p>
        </p:txBody>
      </p:sp>
      <p:sp>
        <p:nvSpPr>
          <p:cNvPr id="15" name="Rectangle 14"/>
          <p:cNvSpPr/>
          <p:nvPr/>
        </p:nvSpPr>
        <p:spPr>
          <a:xfrm>
            <a:off x="3630168" y="2514600"/>
            <a:ext cx="2185416"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2633472"/>
            <a:ext cx="2185416" cy="2560320"/>
          </a:xfrm>
          <a:prstGeom prst="rect">
            <a:avLst/>
          </a:prstGeom>
          <a:noFill/>
        </p:spPr>
        <p:txBody>
          <a:bodyPr wrap="square" lIns="0" tIns="0" rIns="0" bIns="0">
            <a:spAutoFit/>
          </a:bodyPr>
          <a:lstStyle/>
          <a:p>
            <a:pPr>
              <a:spcAft>
                <a:spcPts val="800"/>
              </a:spcAft>
              <a:defRPr sz="880" b="1">
                <a:solidFill>
                  <a:srgbClr val="F8FAFC"/>
                </a:solidFill>
              </a:defRPr>
            </a:pPr>
            <a:r>
              <a:t>• Chrome Web Store: </a:t>
            </a:r>
            <a:r>
              <a:rPr b="0">
                <a:solidFill>
                  <a:srgbClr val="94A3B8"/>
                </a:solidFill>
              </a:rPr>
              <a:t>1-Click install into Chrome, Brave, and Edge browsers</a:t>
            </a:r>
          </a:p>
          <a:p>
            <a:pPr>
              <a:spcAft>
                <a:spcPts val="800"/>
              </a:spcAft>
              <a:defRPr sz="880" b="1">
                <a:solidFill>
                  <a:srgbClr val="F8FAFC"/>
                </a:solidFill>
              </a:defRPr>
            </a:pPr>
            <a:r>
              <a:t>• Cross-Tab Detection: </a:t>
            </a:r>
            <a:r>
              <a:rPr b="0">
                <a:solidFill>
                  <a:srgbClr val="94A3B8"/>
                </a:solidFill>
              </a:rPr>
              <a:t>Extension automatically recognizes open Claude, ChatGPT, and Gemini tabs</a:t>
            </a:r>
          </a:p>
          <a:p>
            <a:pPr>
              <a:spcAft>
                <a:spcPts val="800"/>
              </a:spcAft>
              <a:defRPr sz="880" b="1">
                <a:solidFill>
                  <a:srgbClr val="F8FAFC"/>
                </a:solidFill>
              </a:defRPr>
            </a:pPr>
            <a:r>
              <a:t>• Zero-Config Extraction: </a:t>
            </a:r>
            <a:r>
              <a:rPr b="0">
                <a:solidFill>
                  <a:srgbClr val="94A3B8"/>
                </a:solidFill>
              </a:rPr>
              <a:t>1-Click memory inspection and extraction prompt copying</a:t>
            </a:r>
          </a:p>
          <a:p>
            <a:pPr>
              <a:spcAft>
                <a:spcPts val="800"/>
              </a:spcAft>
              <a:defRPr sz="880" b="1">
                <a:solidFill>
                  <a:srgbClr val="F8FAFC"/>
                </a:solidFill>
              </a:defRPr>
            </a:pPr>
            <a:r>
              <a:t>• Habit Formation: </a:t>
            </a:r>
            <a:r>
              <a:rPr b="0">
                <a:solidFill>
                  <a:srgbClr val="94A3B8"/>
                </a:solidFill>
              </a:rPr>
              <a:t>Developer uses Relay daily whenever switching between models</a:t>
            </a:r>
          </a:p>
        </p:txBody>
      </p:sp>
      <p:sp>
        <p:nvSpPr>
          <p:cNvPr id="17" name="Rounded Rectangle 16"/>
          <p:cNvSpPr/>
          <p:nvPr/>
        </p:nvSpPr>
        <p:spPr>
          <a:xfrm>
            <a:off x="6199632" y="1463040"/>
            <a:ext cx="2514600" cy="38404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2" y="1463040"/>
            <a:ext cx="25146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600200"/>
            <a:ext cx="2185416" cy="868680"/>
          </a:xfrm>
          <a:prstGeom prst="rect">
            <a:avLst/>
          </a:prstGeom>
          <a:noFill/>
        </p:spPr>
        <p:txBody>
          <a:bodyPr wrap="square" lIns="0" tIns="0" rIns="0" bIns="0">
            <a:spAutoFit/>
          </a:bodyPr>
          <a:lstStyle/>
          <a:p>
            <a:pPr>
              <a:defRPr sz="950" b="1">
                <a:solidFill>
                  <a:srgbClr val="F59E0B"/>
                </a:solidFill>
              </a:defRPr>
            </a:pPr>
            <a:r>
              <a:t>STAGE 3</a:t>
            </a:r>
          </a:p>
          <a:p>
            <a:pPr>
              <a:spcAft>
                <a:spcPts val="200"/>
              </a:spcAft>
              <a:defRPr sz="1300" b="1">
                <a:solidFill>
                  <a:srgbClr val="F8FAFC"/>
                </a:solidFill>
              </a:defRPr>
            </a:pPr>
            <a:r>
              <a:t>Pro Upgrade Trigger</a:t>
            </a:r>
          </a:p>
          <a:p>
            <a:pPr>
              <a:defRPr sz="850">
                <a:solidFill>
                  <a:srgbClr val="64748B"/>
                </a:solidFill>
              </a:defRPr>
            </a:pPr>
            <a:r>
              <a:t>PQL Commercial Conversion</a:t>
            </a:r>
          </a:p>
        </p:txBody>
      </p:sp>
      <p:sp>
        <p:nvSpPr>
          <p:cNvPr id="20" name="Rectangle 19"/>
          <p:cNvSpPr/>
          <p:nvPr/>
        </p:nvSpPr>
        <p:spPr>
          <a:xfrm>
            <a:off x="6364224" y="2514600"/>
            <a:ext cx="2185416"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2633472"/>
            <a:ext cx="2185416" cy="2560320"/>
          </a:xfrm>
          <a:prstGeom prst="rect">
            <a:avLst/>
          </a:prstGeom>
          <a:noFill/>
        </p:spPr>
        <p:txBody>
          <a:bodyPr wrap="square" lIns="0" tIns="0" rIns="0" bIns="0">
            <a:spAutoFit/>
          </a:bodyPr>
          <a:lstStyle/>
          <a:p>
            <a:pPr>
              <a:spcAft>
                <a:spcPts val="800"/>
              </a:spcAft>
              <a:defRPr sz="880" b="1">
                <a:solidFill>
                  <a:srgbClr val="F8FAFC"/>
                </a:solidFill>
              </a:defRPr>
            </a:pPr>
            <a:r>
              <a:t>• Multi-Machine Friction: </a:t>
            </a:r>
            <a:r>
              <a:rPr b="0">
                <a:solidFill>
                  <a:srgbClr val="94A3B8"/>
                </a:solidFill>
              </a:rPr>
              <a:t>Developer wants laptop and desktop coding environments synced</a:t>
            </a:r>
          </a:p>
          <a:p>
            <a:pPr>
              <a:spcAft>
                <a:spcPts val="800"/>
              </a:spcAft>
              <a:defRPr sz="880" b="1">
                <a:solidFill>
                  <a:srgbClr val="F8FAFC"/>
                </a:solidFill>
              </a:defRPr>
            </a:pPr>
            <a:r>
              <a:t>• 1-Click Tab Bridge: </a:t>
            </a:r>
            <a:r>
              <a:rPr b="0">
                <a:solidFill>
                  <a:srgbClr val="94A3B8"/>
                </a:solidFill>
              </a:rPr>
              <a:t>Moving an active live session from Claude to ChatGPT with 1-click</a:t>
            </a:r>
          </a:p>
          <a:p>
            <a:pPr>
              <a:spcAft>
                <a:spcPts val="800"/>
              </a:spcAft>
              <a:defRPr sz="880" b="1">
                <a:solidFill>
                  <a:srgbClr val="F8FAFC"/>
                </a:solidFill>
              </a:defRPr>
            </a:pPr>
            <a:r>
              <a:t>• Snapshot History: </a:t>
            </a:r>
            <a:r>
              <a:rPr b="0">
                <a:solidFill>
                  <a:srgbClr val="94A3B8"/>
                </a:solidFill>
              </a:rPr>
              <a:t>Rollback memory state when prompt drift occurs</a:t>
            </a:r>
          </a:p>
          <a:p>
            <a:pPr>
              <a:spcAft>
                <a:spcPts val="800"/>
              </a:spcAft>
              <a:defRPr sz="880" b="1">
                <a:solidFill>
                  <a:srgbClr val="F8FAFC"/>
                </a:solidFill>
              </a:defRPr>
            </a:pPr>
            <a:r>
              <a:t>• Organic Conversion: </a:t>
            </a:r>
            <a:r>
              <a:rPr b="0">
                <a:solidFill>
                  <a:srgbClr val="94A3B8"/>
                </a:solidFill>
              </a:rPr>
              <a:t>2.8% - 3.5% of free extension users upgrade to Pro ($12/mo)</a:t>
            </a:r>
          </a:p>
        </p:txBody>
      </p:sp>
      <p:sp>
        <p:nvSpPr>
          <p:cNvPr id="22" name="Rounded Rectangle 21"/>
          <p:cNvSpPr/>
          <p:nvPr/>
        </p:nvSpPr>
        <p:spPr>
          <a:xfrm>
            <a:off x="8933688" y="1463040"/>
            <a:ext cx="2514600" cy="384048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33688" y="1463040"/>
            <a:ext cx="2514600" cy="36576"/>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1600200"/>
            <a:ext cx="2185416" cy="868680"/>
          </a:xfrm>
          <a:prstGeom prst="rect">
            <a:avLst/>
          </a:prstGeom>
          <a:noFill/>
        </p:spPr>
        <p:txBody>
          <a:bodyPr wrap="square" lIns="0" tIns="0" rIns="0" bIns="0">
            <a:spAutoFit/>
          </a:bodyPr>
          <a:lstStyle/>
          <a:p>
            <a:pPr>
              <a:defRPr sz="950" b="1">
                <a:solidFill>
                  <a:srgbClr val="F8FAFC"/>
                </a:solidFill>
              </a:defRPr>
            </a:pPr>
            <a:r>
              <a:t>STAGE 4</a:t>
            </a:r>
          </a:p>
          <a:p>
            <a:pPr>
              <a:spcAft>
                <a:spcPts val="200"/>
              </a:spcAft>
              <a:defRPr sz="1300" b="1">
                <a:solidFill>
                  <a:srgbClr val="F8FAFC"/>
                </a:solidFill>
              </a:defRPr>
            </a:pPr>
            <a:r>
              <a:t>Team Viral Expansion</a:t>
            </a:r>
          </a:p>
          <a:p>
            <a:pPr>
              <a:defRPr sz="850">
                <a:solidFill>
                  <a:srgbClr val="64748B"/>
                </a:solidFill>
              </a:defRPr>
            </a:pPr>
            <a:r>
              <a:t>Bottom-Up Enterprise Land</a:t>
            </a:r>
          </a:p>
        </p:txBody>
      </p:sp>
      <p:sp>
        <p:nvSpPr>
          <p:cNvPr id="25" name="Rectangle 24"/>
          <p:cNvSpPr/>
          <p:nvPr/>
        </p:nvSpPr>
        <p:spPr>
          <a:xfrm>
            <a:off x="9098280" y="2514600"/>
            <a:ext cx="2185416"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280" y="2633472"/>
            <a:ext cx="2185416" cy="2560320"/>
          </a:xfrm>
          <a:prstGeom prst="rect">
            <a:avLst/>
          </a:prstGeom>
          <a:noFill/>
        </p:spPr>
        <p:txBody>
          <a:bodyPr wrap="square" lIns="0" tIns="0" rIns="0" bIns="0">
            <a:spAutoFit/>
          </a:bodyPr>
          <a:lstStyle/>
          <a:p>
            <a:pPr>
              <a:spcAft>
                <a:spcPts val="800"/>
              </a:spcAft>
              <a:defRPr sz="880" b="1">
                <a:solidFill>
                  <a:srgbClr val="F8FAFC"/>
                </a:solidFill>
              </a:defRPr>
            </a:pPr>
            <a:r>
              <a:t>• Repo Standardization: </a:t>
            </a:r>
            <a:r>
              <a:rPr b="0">
                <a:solidFill>
                  <a:srgbClr val="94A3B8"/>
                </a:solidFill>
              </a:rPr>
              <a:t>Senior dev creates team .cursorrules and CLAUDE.md from Relay</a:t>
            </a:r>
          </a:p>
          <a:p>
            <a:pPr>
              <a:spcAft>
                <a:spcPts val="800"/>
              </a:spcAft>
              <a:defRPr sz="880" b="1">
                <a:solidFill>
                  <a:srgbClr val="F8FAFC"/>
                </a:solidFill>
              </a:defRPr>
            </a:pPr>
            <a:r>
              <a:t>• Team Workspace Invite: </a:t>
            </a:r>
            <a:r>
              <a:rPr b="0">
                <a:solidFill>
                  <a:srgbClr val="94A3B8"/>
                </a:solidFill>
              </a:rPr>
              <a:t>Senior dev shares standardized team vault with squad members</a:t>
            </a:r>
          </a:p>
          <a:p>
            <a:pPr>
              <a:spcAft>
                <a:spcPts val="800"/>
              </a:spcAft>
              <a:defRPr sz="880" b="1">
                <a:solidFill>
                  <a:srgbClr val="F8FAFC"/>
                </a:solidFill>
              </a:defRPr>
            </a:pPr>
            <a:r>
              <a:t>• Compliance Guardrails: </a:t>
            </a:r>
            <a:r>
              <a:rPr b="0">
                <a:solidFill>
                  <a:srgbClr val="94A3B8"/>
                </a:solidFill>
              </a:rPr>
              <a:t>Engineering VP enforces automated secret/PII scrubbing before LLM input</a:t>
            </a:r>
          </a:p>
          <a:p>
            <a:pPr>
              <a:spcAft>
                <a:spcPts val="800"/>
              </a:spcAft>
              <a:defRPr sz="880" b="1">
                <a:solidFill>
                  <a:srgbClr val="F8FAFC"/>
                </a:solidFill>
              </a:defRPr>
            </a:pPr>
            <a:r>
              <a:t>• Seat Expansion: </a:t>
            </a:r>
            <a:r>
              <a:rPr b="0">
                <a:solidFill>
                  <a:srgbClr val="94A3B8"/>
                </a:solidFill>
              </a:rPr>
              <a:t>Converts single $12/mo dev into 5-25 seat Team subscription ($28/seat)</a:t>
            </a:r>
          </a:p>
        </p:txBody>
      </p:sp>
      <p:sp>
        <p:nvSpPr>
          <p:cNvPr id="27" name="Rounded Rectangle 26"/>
          <p:cNvSpPr/>
          <p:nvPr/>
        </p:nvSpPr>
        <p:spPr>
          <a:xfrm>
            <a:off x="731520" y="5486400"/>
            <a:ext cx="10728655" cy="914400"/>
          </a:xfrm>
          <a:prstGeom prst="roundRect">
            <a:avLst/>
          </a:prstGeom>
          <a:solidFill>
            <a:srgbClr val="141A24"/>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559552"/>
            <a:ext cx="10332720" cy="777240"/>
          </a:xfrm>
          <a:prstGeom prst="rect">
            <a:avLst/>
          </a:prstGeom>
          <a:noFill/>
        </p:spPr>
        <p:txBody>
          <a:bodyPr wrap="square">
            <a:spAutoFit/>
          </a:bodyPr>
          <a:lstStyle/>
          <a:p>
            <a:pPr>
              <a:defRPr sz="1000" b="1">
                <a:solidFill>
                  <a:srgbClr val="10B981"/>
                </a:solidFill>
              </a:defRPr>
            </a:pPr>
            <a:r>
              <a:t>THE ZERO-CAC ADVANTAGE: </a:t>
            </a:r>
            <a:r>
              <a:rPr b="0">
                <a:solidFill>
                  <a:srgbClr val="F8FAFC"/>
                </a:solidFill>
              </a:rPr>
              <a:t>Because UMS functions as an open standard and developers already experience context switching daily across ChatGPT and Claude, RelayAI does not need expensive paid advertising. The Chrome Extension and GitHub repository act as self-funding, high-intent acquisition channels.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56032"/>
          </a:xfrm>
          <a:prstGeom prst="rect">
            <a:avLst/>
          </a:prstGeom>
          <a:noFill/>
        </p:spPr>
        <p:txBody>
          <a:bodyPr wrap="square" lIns="0" tIns="0" rIns="0" bIns="0">
            <a:spAutoFit/>
          </a:bodyPr>
          <a:lstStyle/>
          <a:p>
            <a:pPr>
              <a:defRPr sz="1000" b="1">
                <a:solidFill>
                  <a:srgbClr val="0EA5E9"/>
                </a:solidFill>
              </a:defRPr>
            </a:pPr>
            <a:r>
              <a:t>DEFENSIBILITY &amp; PROVIDER DYNAMICS</a:t>
            </a:r>
          </a:p>
        </p:txBody>
      </p:sp>
      <p:sp>
        <p:nvSpPr>
          <p:cNvPr id="4" name="TextBox 3"/>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defRPr>
            </a:pPr>
            <a:r>
              <a:t>Risk Assessment &amp; Defensibility: Competitive Moat Matrix</a:t>
            </a:r>
          </a:p>
        </p:txBody>
      </p:sp>
      <p:sp>
        <p:nvSpPr>
          <p:cNvPr id="5" name="TextBox 4"/>
          <p:cNvSpPr txBox="1"/>
          <p:nvPr/>
        </p:nvSpPr>
        <p:spPr>
          <a:xfrm>
            <a:off x="10698480" y="365760"/>
            <a:ext cx="822960" cy="274320"/>
          </a:xfrm>
          <a:prstGeom prst="rect">
            <a:avLst/>
          </a:prstGeom>
          <a:noFill/>
        </p:spPr>
        <p:txBody>
          <a:bodyPr wrap="none">
            <a:spAutoFit/>
          </a:bodyPr>
          <a:lstStyle/>
          <a:p>
            <a:pPr algn="r">
              <a:defRPr sz="1000" b="1">
                <a:solidFill>
                  <a:srgbClr val="64748B"/>
                </a:solidFill>
              </a:defRPr>
            </a:pPr>
            <a:r>
              <a:t>09 / 10</a:t>
            </a:r>
          </a:p>
        </p:txBody>
      </p:sp>
      <p:sp>
        <p:nvSpPr>
          <p:cNvPr id="6" name="Rectangle 5"/>
          <p:cNvSpPr/>
          <p:nvPr/>
        </p:nvSpPr>
        <p:spPr>
          <a:xfrm>
            <a:off x="731520" y="1188720"/>
            <a:ext cx="10728655"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371600"/>
          <a:ext cx="10728655" cy="3931920"/>
        </p:xfrm>
        <a:graphic>
          <a:graphicData uri="http://schemas.openxmlformats.org/drawingml/2006/table">
            <a:tbl>
              <a:tblPr firstRow="1" bandRow="1">
                <a:tableStyleId>{5C22544A-7EE6-4342-B048-85BDC9FD1C3A}</a:tableStyleId>
              </a:tblPr>
              <a:tblGrid>
                <a:gridCol w="2286000"/>
                <a:gridCol w="1280160"/>
                <a:gridCol w="1280160"/>
                <a:gridCol w="3322015"/>
                <a:gridCol w="2560320"/>
              </a:tblGrid>
              <a:tr h="655320">
                <a:tc>
                  <a:txBody>
                    <a:bodyPr wrap="square"/>
                    <a:lstStyle/>
                    <a:p>
                      <a:pPr algn="ctr">
                        <a:defRPr sz="950" b="1">
                          <a:solidFill>
                            <a:srgbClr val="0EA5E9"/>
                          </a:solidFill>
                        </a:defRPr>
                      </a:pPr>
                      <a:r>
                        <a:t>Identified Risk Vector</a:t>
                      </a:r>
                    </a:p>
                  </a:txBody>
                  <a:tcPr anchor="ctr" marL="73152" marR="73152" marT="45720" marB="45720">
                    <a:solidFill>
                      <a:srgbClr val="1E293B"/>
                    </a:solidFill>
                  </a:tcPr>
                </a:tc>
                <a:tc>
                  <a:txBody>
                    <a:bodyPr wrap="square"/>
                    <a:lstStyle/>
                    <a:p>
                      <a:pPr algn="ctr">
                        <a:defRPr sz="950" b="1">
                          <a:solidFill>
                            <a:srgbClr val="0EA5E9"/>
                          </a:solidFill>
                        </a:defRPr>
                      </a:pPr>
                      <a:r>
                        <a:t>Likelihood</a:t>
                      </a:r>
                      <a:br/>
                      <a:r>
                        <a:t>(Low/Med/High)</a:t>
                      </a:r>
                    </a:p>
                  </a:txBody>
                  <a:tcPr anchor="ctr" marL="73152" marR="73152" marT="45720" marB="45720">
                    <a:solidFill>
                      <a:srgbClr val="1E293B"/>
                    </a:solidFill>
                  </a:tcPr>
                </a:tc>
                <a:tc>
                  <a:txBody>
                    <a:bodyPr wrap="square"/>
                    <a:lstStyle/>
                    <a:p>
                      <a:pPr algn="ctr">
                        <a:defRPr sz="950" b="1">
                          <a:solidFill>
                            <a:srgbClr val="0EA5E9"/>
                          </a:solidFill>
                        </a:defRPr>
                      </a:pPr>
                      <a:r>
                        <a:t>Impact</a:t>
                      </a:r>
                      <a:br/>
                      <a:r>
                        <a:t>(Low/Med/High)</a:t>
                      </a:r>
                    </a:p>
                  </a:txBody>
                  <a:tcPr anchor="ctr" marL="73152" marR="73152" marT="45720" marB="45720">
                    <a:solidFill>
                      <a:srgbClr val="1E293B"/>
                    </a:solidFill>
                  </a:tcPr>
                </a:tc>
                <a:tc>
                  <a:txBody>
                    <a:bodyPr wrap="square"/>
                    <a:lstStyle/>
                    <a:p>
                      <a:pPr algn="ctr">
                        <a:defRPr sz="950" b="1">
                          <a:solidFill>
                            <a:srgbClr val="0EA5E9"/>
                          </a:solidFill>
                        </a:defRPr>
                      </a:pPr>
                      <a:r>
                        <a:t>RelayAI Structural Moat &amp; Defensibility</a:t>
                      </a:r>
                    </a:p>
                  </a:txBody>
                  <a:tcPr anchor="ctr" marL="73152" marR="73152" marT="45720" marB="45720">
                    <a:solidFill>
                      <a:srgbClr val="1E293B"/>
                    </a:solidFill>
                  </a:tcPr>
                </a:tc>
                <a:tc>
                  <a:txBody>
                    <a:bodyPr wrap="square"/>
                    <a:lstStyle/>
                    <a:p>
                      <a:pPr algn="ctr">
                        <a:defRPr sz="950" b="1">
                          <a:solidFill>
                            <a:srgbClr val="0EA5E9"/>
                          </a:solidFill>
                        </a:defRPr>
                      </a:pPr>
                      <a:r>
                        <a:t>Strategic Mitigation Plan</a:t>
                      </a:r>
                    </a:p>
                  </a:txBody>
                  <a:tcPr anchor="ctr" marL="73152" marR="73152" marT="45720" marB="45720">
                    <a:solidFill>
                      <a:srgbClr val="1E293B"/>
                    </a:solidFill>
                  </a:tcPr>
                </a:tc>
              </a:tr>
              <a:tr h="655320">
                <a:tc>
                  <a:txBody>
                    <a:bodyPr wrap="square"/>
                    <a:lstStyle/>
                    <a:p>
                      <a:pPr algn="l">
                        <a:defRPr sz="900" b="1">
                          <a:solidFill>
                            <a:srgbClr val="F8FAFC"/>
                          </a:solidFill>
                        </a:defRPr>
                      </a:pPr>
                      <a:r>
                        <a:t>Providers Build Native Multi-Model Exporters</a:t>
                      </a:r>
                    </a:p>
                  </a:txBody>
                  <a:tcPr anchor="ctr" marL="73152" marR="73152" marT="45720" marB="45720">
                    <a:solidFill>
                      <a:srgbClr val="161B22"/>
                    </a:solidFill>
                  </a:tcPr>
                </a:tc>
                <a:tc>
                  <a:txBody>
                    <a:bodyPr wrap="square"/>
                    <a:lstStyle/>
                    <a:p>
                      <a:pPr algn="ctr">
                        <a:defRPr sz="850" b="1">
                          <a:solidFill>
                            <a:srgbClr val="F8FAFC"/>
                          </a:solidFill>
                        </a:defRPr>
                      </a:pPr>
                      <a:r>
                        <a:t>Low (1.5/5)</a:t>
                      </a:r>
                      <a:br/>
                      <a:r>
                        <a:t>Walled garden incentives</a:t>
                      </a:r>
                    </a:p>
                  </a:txBody>
                  <a:tcPr anchor="ctr" marL="73152" marR="73152" marT="45720" marB="45720">
                    <a:solidFill>
                      <a:srgbClr val="0D6E44"/>
                    </a:solidFill>
                  </a:tcPr>
                </a:tc>
                <a:tc>
                  <a:txBody>
                    <a:bodyPr wrap="square"/>
                    <a:lstStyle/>
                    <a:p>
                      <a:pPr algn="ctr">
                        <a:defRPr sz="850" b="1">
                          <a:solidFill>
                            <a:srgbClr val="F8FAFC"/>
                          </a:solidFill>
                        </a:defRPr>
                      </a:pPr>
                      <a:r>
                        <a:t>High (4.0/5)</a:t>
                      </a:r>
                      <a:br/>
                      <a:r>
                        <a:t>If built natively</a:t>
                      </a:r>
                    </a:p>
                  </a:txBody>
                  <a:tcPr anchor="ctr" marL="73152" marR="73152" marT="45720" marB="45720">
                    <a:solidFill>
                      <a:srgbClr val="B4690C"/>
                    </a:solidFill>
                  </a:tcPr>
                </a:tc>
                <a:tc>
                  <a:txBody>
                    <a:bodyPr wrap="square"/>
                    <a:lstStyle/>
                    <a:p>
                      <a:pPr algn="l">
                        <a:defRPr sz="850" b="0">
                          <a:solidFill>
                            <a:srgbClr val="94A3B8"/>
                          </a:solidFill>
                        </a:defRPr>
                      </a:pPr>
                      <a:r>
                        <a:t>Walled Gardens Never Collaborate: OpenAI will never build an automated export tool to migrate users seamlessly to Anthropic Claude. Neutrality is our permanent moat.</a:t>
                      </a:r>
                    </a:p>
                  </a:txBody>
                  <a:tcPr anchor="ctr" marL="73152" marR="73152" marT="45720" marB="45720">
                    <a:solidFill>
                      <a:srgbClr val="161B22"/>
                    </a:solidFill>
                  </a:tcPr>
                </a:tc>
                <a:tc>
                  <a:txBody>
                    <a:bodyPr wrap="square"/>
                    <a:lstStyle/>
                    <a:p>
                      <a:pPr algn="ctr">
                        <a:defRPr sz="850" b="1">
                          <a:solidFill>
                            <a:srgbClr val="F8FAFC"/>
                          </a:solidFill>
                        </a:defRPr>
                      </a:pPr>
                      <a:r>
                        <a:t>Maintain pure vendor neutrality across all current and future LLMs.</a:t>
                      </a:r>
                    </a:p>
                  </a:txBody>
                  <a:tcPr anchor="ctr" marL="73152" marR="73152" marT="45720" marB="45720">
                    <a:solidFill>
                      <a:srgbClr val="23735F"/>
                    </a:solidFill>
                  </a:tcPr>
                </a:tc>
              </a:tr>
              <a:tr h="655320">
                <a:tc>
                  <a:txBody>
                    <a:bodyPr wrap="square"/>
                    <a:lstStyle/>
                    <a:p>
                      <a:pPr algn="l">
                        <a:defRPr sz="900" b="1">
                          <a:solidFill>
                            <a:srgbClr val="F8FAFC"/>
                          </a:solidFill>
                        </a:defRPr>
                      </a:pPr>
                      <a:r>
                        <a:t>Provider UI / DOM Scraping Breakage</a:t>
                      </a:r>
                    </a:p>
                  </a:txBody>
                  <a:tcPr anchor="ctr" marL="73152" marR="73152" marT="45720" marB="45720">
                    <a:solidFill>
                      <a:srgbClr val="161B22"/>
                    </a:solidFill>
                  </a:tcPr>
                </a:tc>
                <a:tc>
                  <a:txBody>
                    <a:bodyPr wrap="square"/>
                    <a:lstStyle/>
                    <a:p>
                      <a:pPr algn="ctr">
                        <a:defRPr sz="850" b="1">
                          <a:solidFill>
                            <a:srgbClr val="F8FAFC"/>
                          </a:solidFill>
                        </a:defRPr>
                      </a:pPr>
                      <a:r>
                        <a:t>High for bots</a:t>
                      </a:r>
                      <a:br/>
                      <a:r>
                        <a:t>Zero for UMS</a:t>
                      </a:r>
                    </a:p>
                  </a:txBody>
                  <a:tcPr anchor="ctr" marL="73152" marR="73152" marT="45720" marB="45720">
                    <a:solidFill>
                      <a:srgbClr val="0D6E44"/>
                    </a:solidFill>
                  </a:tcPr>
                </a:tc>
                <a:tc>
                  <a:txBody>
                    <a:bodyPr wrap="square"/>
                    <a:lstStyle/>
                    <a:p>
                      <a:pPr algn="ctr">
                        <a:defRPr sz="850" b="1">
                          <a:solidFill>
                            <a:srgbClr val="F8FAFC"/>
                          </a:solidFill>
                        </a:defRPr>
                      </a:pPr>
                      <a:r>
                        <a:t>Critical for bots</a:t>
                      </a:r>
                      <a:br/>
                      <a:r>
                        <a:t>Zero for UMS</a:t>
                      </a:r>
                    </a:p>
                  </a:txBody>
                  <a:tcPr anchor="ctr" marL="73152" marR="73152" marT="45720" marB="45720">
                    <a:solidFill>
                      <a:srgbClr val="0D6E44"/>
                    </a:solidFill>
                  </a:tcPr>
                </a:tc>
                <a:tc>
                  <a:txBody>
                    <a:bodyPr wrap="square"/>
                    <a:lstStyle/>
                    <a:p>
                      <a:pPr algn="l">
                        <a:defRPr sz="850" b="0">
                          <a:solidFill>
                            <a:srgbClr val="94A3B8"/>
                          </a:solidFill>
                        </a:defRPr>
                      </a:pPr>
                      <a:r>
                        <a:t>Zero Screen Scraping: UMS operates strictly via officially documented provider prompts, official memory settings, and documented verification queries.</a:t>
                      </a:r>
                    </a:p>
                  </a:txBody>
                  <a:tcPr anchor="ctr" marL="73152" marR="73152" marT="45720" marB="45720">
                    <a:solidFill>
                      <a:srgbClr val="161B22"/>
                    </a:solidFill>
                  </a:tcPr>
                </a:tc>
                <a:tc>
                  <a:txBody>
                    <a:bodyPr wrap="square"/>
                    <a:lstStyle/>
                    <a:p>
                      <a:pPr algn="ctr">
                        <a:defRPr sz="850" b="1">
                          <a:solidFill>
                            <a:srgbClr val="F8FAFC"/>
                          </a:solidFill>
                        </a:defRPr>
                      </a:pPr>
                      <a:r>
                        <a:t>Track official API and documentation changes with 24-hr adapter turnaround.</a:t>
                      </a:r>
                    </a:p>
                  </a:txBody>
                  <a:tcPr anchor="ctr" marL="73152" marR="73152" marT="45720" marB="45720">
                    <a:solidFill>
                      <a:srgbClr val="148255"/>
                    </a:solidFill>
                  </a:tcPr>
                </a:tc>
              </a:tr>
              <a:tr h="655320">
                <a:tc>
                  <a:txBody>
                    <a:bodyPr wrap="square"/>
                    <a:lstStyle/>
                    <a:p>
                      <a:pPr algn="l">
                        <a:defRPr sz="900" b="1">
                          <a:solidFill>
                            <a:srgbClr val="F8FAFC"/>
                          </a:solidFill>
                        </a:defRPr>
                      </a:pPr>
                      <a:r>
                        <a:t>IDE Silo Expansion (Cursor, Windsurf, Copilot)</a:t>
                      </a:r>
                    </a:p>
                  </a:txBody>
                  <a:tcPr anchor="ctr" marL="73152" marR="73152" marT="45720" marB="45720">
                    <a:solidFill>
                      <a:srgbClr val="161B22"/>
                    </a:solidFill>
                  </a:tcPr>
                </a:tc>
                <a:tc>
                  <a:txBody>
                    <a:bodyPr wrap="square"/>
                    <a:lstStyle/>
                    <a:p>
                      <a:pPr algn="ctr">
                        <a:defRPr sz="850" b="1">
                          <a:solidFill>
                            <a:srgbClr val="F8FAFC"/>
                          </a:solidFill>
                        </a:defRPr>
                      </a:pPr>
                      <a:r>
                        <a:t>High (4.0/5)</a:t>
                      </a:r>
                      <a:br/>
                      <a:r>
                        <a:t>IDEs expand features</a:t>
                      </a:r>
                    </a:p>
                  </a:txBody>
                  <a:tcPr anchor="ctr" marL="73152" marR="73152" marT="45720" marB="45720">
                    <a:solidFill>
                      <a:srgbClr val="B4690C"/>
                    </a:solidFill>
                  </a:tcPr>
                </a:tc>
                <a:tc>
                  <a:txBody>
                    <a:bodyPr wrap="square"/>
                    <a:lstStyle/>
                    <a:p>
                      <a:pPr algn="ctr">
                        <a:defRPr sz="850" b="1">
                          <a:solidFill>
                            <a:srgbClr val="F8FAFC"/>
                          </a:solidFill>
                        </a:defRPr>
                      </a:pPr>
                      <a:r>
                        <a:t>Moderate (2.5/5)</a:t>
                      </a:r>
                      <a:br/>
                      <a:r>
                        <a:t>Complementary role</a:t>
                      </a:r>
                    </a:p>
                  </a:txBody>
                  <a:tcPr anchor="ctr" marL="73152" marR="73152" marT="45720" marB="45720">
                    <a:solidFill>
                      <a:srgbClr val="23735F"/>
                    </a:solidFill>
                  </a:tcPr>
                </a:tc>
                <a:tc>
                  <a:txBody>
                    <a:bodyPr wrap="square"/>
                    <a:lstStyle/>
                    <a:p>
                      <a:pPr algn="l">
                        <a:defRPr sz="850" b="0">
                          <a:solidFill>
                            <a:srgbClr val="94A3B8"/>
                          </a:solidFill>
                        </a:defRPr>
                      </a:pPr>
                      <a:r>
                        <a:t>IDEs Are Isolated to the Editor: Cursor cannot manage memory inside ChatGPT web or Claude research chats. Relay acts as the universal bridge between web and IDE.</a:t>
                      </a:r>
                    </a:p>
                  </a:txBody>
                  <a:tcPr anchor="ctr" marL="73152" marR="73152" marT="45720" marB="45720">
                    <a:solidFill>
                      <a:srgbClr val="161B22"/>
                    </a:solidFill>
                  </a:tcPr>
                </a:tc>
                <a:tc>
                  <a:txBody>
                    <a:bodyPr wrap="square"/>
                    <a:lstStyle/>
                    <a:p>
                      <a:pPr algn="ctr">
                        <a:defRPr sz="850" b="1">
                          <a:solidFill>
                            <a:srgbClr val="F8FAFC"/>
                          </a:solidFill>
                        </a:defRPr>
                      </a:pPr>
                      <a:r>
                        <a:t>Native export to CLAUDE.md, .cursorrules, and AGENTS.md files.</a:t>
                      </a:r>
                    </a:p>
                  </a:txBody>
                  <a:tcPr anchor="ctr" marL="73152" marR="73152" marT="45720" marB="45720">
                    <a:solidFill>
                      <a:srgbClr val="148255"/>
                    </a:solidFill>
                  </a:tcPr>
                </a:tc>
              </a:tr>
              <a:tr h="655320">
                <a:tc>
                  <a:txBody>
                    <a:bodyPr wrap="square"/>
                    <a:lstStyle/>
                    <a:p>
                      <a:pPr algn="l">
                        <a:defRPr sz="900" b="1">
                          <a:solidFill>
                            <a:srgbClr val="F8FAFC"/>
                          </a:solidFill>
                        </a:defRPr>
                      </a:pPr>
                      <a:r>
                        <a:t>Developer DIY Scripting Inertia</a:t>
                      </a:r>
                    </a:p>
                  </a:txBody>
                  <a:tcPr anchor="ctr" marL="73152" marR="73152" marT="45720" marB="45720">
                    <a:solidFill>
                      <a:srgbClr val="161B22"/>
                    </a:solidFill>
                  </a:tcPr>
                </a:tc>
                <a:tc>
                  <a:txBody>
                    <a:bodyPr wrap="square"/>
                    <a:lstStyle/>
                    <a:p>
                      <a:pPr algn="ctr">
                        <a:defRPr sz="850" b="1">
                          <a:solidFill>
                            <a:srgbClr val="F8FAFC"/>
                          </a:solidFill>
                        </a:defRPr>
                      </a:pPr>
                      <a:r>
                        <a:t>Moderate (3.0/5)</a:t>
                      </a:r>
                      <a:br/>
                      <a:r>
                        <a:t>Devs write custom scripts</a:t>
                      </a:r>
                    </a:p>
                  </a:txBody>
                  <a:tcPr anchor="ctr" marL="73152" marR="73152" marT="45720" marB="45720">
                    <a:solidFill>
                      <a:srgbClr val="B4690C"/>
                    </a:solidFill>
                  </a:tcPr>
                </a:tc>
                <a:tc>
                  <a:txBody>
                    <a:bodyPr wrap="square"/>
                    <a:lstStyle/>
                    <a:p>
                      <a:pPr algn="ctr">
                        <a:defRPr sz="850" b="1">
                          <a:solidFill>
                            <a:srgbClr val="F8FAFC"/>
                          </a:solidFill>
                        </a:defRPr>
                      </a:pPr>
                      <a:r>
                        <a:t>Low (1.5/5)</a:t>
                      </a:r>
                      <a:br/>
                      <a:r>
                        <a:t>DIY maintenance drag</a:t>
                      </a:r>
                    </a:p>
                  </a:txBody>
                  <a:tcPr anchor="ctr" marL="73152" marR="73152" marT="45720" marB="45720">
                    <a:solidFill>
                      <a:srgbClr val="0D6E44"/>
                    </a:solidFill>
                  </a:tcPr>
                </a:tc>
                <a:tc>
                  <a:txBody>
                    <a:bodyPr wrap="square"/>
                    <a:lstStyle/>
                    <a:p>
                      <a:pPr algn="l">
                        <a:defRPr sz="850" b="0">
                          <a:solidFill>
                            <a:srgbClr val="94A3B8"/>
                          </a:solidFill>
                        </a:defRPr>
                      </a:pPr>
                      <a:r>
                        <a:t>High Maintenance Burden: Writing a one-off parser is easy; maintaining multi-model sync, schema normalization, diffing, and browser extension across 5 tools is unsustainable for teams.</a:t>
                      </a:r>
                    </a:p>
                  </a:txBody>
                  <a:tcPr anchor="ctr" marL="73152" marR="73152" marT="45720" marB="45720">
                    <a:solidFill>
                      <a:srgbClr val="161B22"/>
                    </a:solidFill>
                  </a:tcPr>
                </a:tc>
                <a:tc>
                  <a:txBody>
                    <a:bodyPr wrap="square"/>
                    <a:lstStyle/>
                    <a:p>
                      <a:pPr algn="ctr">
                        <a:defRPr sz="850" b="1">
                          <a:solidFill>
                            <a:srgbClr val="F8FAFC"/>
                          </a:solidFill>
                        </a:defRPr>
                      </a:pPr>
                      <a:r>
                        <a:t>Deliver 1-click convenience that makes DIY scripts obsolete.</a:t>
                      </a:r>
                    </a:p>
                  </a:txBody>
                  <a:tcPr anchor="ctr" marL="73152" marR="73152" marT="45720" marB="45720">
                    <a:solidFill>
                      <a:srgbClr val="23735F"/>
                    </a:solidFill>
                  </a:tcPr>
                </a:tc>
              </a:tr>
              <a:tr h="655320">
                <a:tc>
                  <a:txBody>
                    <a:bodyPr wrap="square"/>
                    <a:lstStyle/>
                    <a:p>
                      <a:pPr algn="l">
                        <a:defRPr sz="900" b="1">
                          <a:solidFill>
                            <a:srgbClr val="F8FAFC"/>
                          </a:solidFill>
                        </a:defRPr>
                      </a:pPr>
                      <a:r>
                        <a:t>Enterprise Security &amp; Data Leak Skepticism</a:t>
                      </a:r>
                    </a:p>
                  </a:txBody>
                  <a:tcPr anchor="ctr" marL="73152" marR="73152" marT="45720" marB="45720">
                    <a:solidFill>
                      <a:srgbClr val="161B22"/>
                    </a:solidFill>
                  </a:tcPr>
                </a:tc>
                <a:tc>
                  <a:txBody>
                    <a:bodyPr wrap="square"/>
                    <a:lstStyle/>
                    <a:p>
                      <a:pPr algn="ctr">
                        <a:defRPr sz="850" b="1">
                          <a:solidFill>
                            <a:srgbClr val="F8FAFC"/>
                          </a:solidFill>
                        </a:defRPr>
                      </a:pPr>
                      <a:r>
                        <a:t>High (4.2/5)</a:t>
                      </a:r>
                      <a:br/>
                      <a:r>
                        <a:t>Enterprise paranoia</a:t>
                      </a:r>
                    </a:p>
                  </a:txBody>
                  <a:tcPr anchor="ctr" marL="73152" marR="73152" marT="45720" marB="45720">
                    <a:solidFill>
                      <a:srgbClr val="B4690C"/>
                    </a:solidFill>
                  </a:tcPr>
                </a:tc>
                <a:tc>
                  <a:txBody>
                    <a:bodyPr wrap="square"/>
                    <a:lstStyle/>
                    <a:p>
                      <a:pPr algn="ctr">
                        <a:defRPr sz="850" b="1">
                          <a:solidFill>
                            <a:srgbClr val="F8FAFC"/>
                          </a:solidFill>
                        </a:defRPr>
                      </a:pPr>
                      <a:r>
                        <a:t>High (4.0/5)</a:t>
                      </a:r>
                      <a:br/>
                      <a:r>
                        <a:t>Blocks deals if unsolved</a:t>
                      </a:r>
                    </a:p>
                  </a:txBody>
                  <a:tcPr anchor="ctr" marL="73152" marR="73152" marT="45720" marB="45720">
                    <a:solidFill>
                      <a:srgbClr val="B4690C"/>
                    </a:solidFill>
                  </a:tcPr>
                </a:tc>
                <a:tc>
                  <a:txBody>
                    <a:bodyPr wrap="square"/>
                    <a:lstStyle/>
                    <a:p>
                      <a:pPr algn="l">
                        <a:defRPr sz="850" b="0">
                          <a:solidFill>
                            <a:srgbClr val="94A3B8"/>
                          </a:solidFill>
                        </a:defRPr>
                      </a:pPr>
                      <a:r>
                        <a:t>Local-First Architecture: UMS stores data locally in SQLite by default. Zero prompt telemetry. Client-side secret scrubbing eliminates corporate data leak concerns.</a:t>
                      </a:r>
                    </a:p>
                  </a:txBody>
                  <a:tcPr anchor="ctr" marL="73152" marR="73152" marT="45720" marB="45720">
                    <a:solidFill>
                      <a:srgbClr val="161B22"/>
                    </a:solidFill>
                  </a:tcPr>
                </a:tc>
                <a:tc>
                  <a:txBody>
                    <a:bodyPr wrap="square"/>
                    <a:lstStyle/>
                    <a:p>
                      <a:pPr algn="ctr">
                        <a:defRPr sz="850" b="1">
                          <a:solidFill>
                            <a:srgbClr val="F8FAFC"/>
                          </a:solidFill>
                        </a:defRPr>
                      </a:pPr>
                      <a:r>
                        <a:t>Provide self-hosted on-premise relay container with SOC2 compliance.</a:t>
                      </a:r>
                    </a:p>
                  </a:txBody>
                  <a:tcPr anchor="ctr" marL="73152" marR="73152" marT="45720" marB="45720">
                    <a:solidFill>
                      <a:srgbClr val="0D6E44"/>
                    </a:solidFill>
                  </a:tcPr>
                </a:tc>
              </a:tr>
            </a:tbl>
          </a:graphicData>
        </a:graphic>
      </p:graphicFrame>
      <p:sp>
        <p:nvSpPr>
          <p:cNvPr id="8" name="Rounded Rectangle 7"/>
          <p:cNvSpPr/>
          <p:nvPr/>
        </p:nvSpPr>
        <p:spPr>
          <a:xfrm>
            <a:off x="731520" y="5532120"/>
            <a:ext cx="10728655" cy="868680"/>
          </a:xfrm>
          <a:prstGeom prst="roundRect">
            <a:avLst/>
          </a:prstGeom>
          <a:solidFill>
            <a:srgbClr val="141A24"/>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77840"/>
            <a:ext cx="10332720" cy="777240"/>
          </a:xfrm>
          <a:prstGeom prst="rect">
            <a:avLst/>
          </a:prstGeom>
          <a:noFill/>
        </p:spPr>
        <p:txBody>
          <a:bodyPr wrap="square">
            <a:spAutoFit/>
          </a:bodyPr>
          <a:lstStyle/>
          <a:p>
            <a:pPr>
              <a:defRPr sz="1000" b="1">
                <a:solidFill>
                  <a:srgbClr val="10B981"/>
                </a:solidFill>
              </a:defRPr>
            </a:pPr>
            <a:r>
              <a:t>DEFENSIVE POSITIONING SUMMARY: </a:t>
            </a:r>
            <a:r>
              <a:rPr b="0">
                <a:solidFill>
                  <a:srgbClr val="F8FAFC"/>
                </a:solidFill>
              </a:rPr>
              <a:t>RelayAI's ultimate moat is Switzerland-like vendor neutrality. As the AI model landscape fragments further between OpenAI, Anthropic, Google, and open-weights (DeepSeek, Mistral), developers and engineering teams demand an independent, neutral source of truth for their AI context.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56032"/>
          </a:xfrm>
          <a:prstGeom prst="rect">
            <a:avLst/>
          </a:prstGeom>
          <a:noFill/>
        </p:spPr>
        <p:txBody>
          <a:bodyPr wrap="square" lIns="0" tIns="0" rIns="0" bIns="0">
            <a:spAutoFit/>
          </a:bodyPr>
          <a:lstStyle/>
          <a:p>
            <a:pPr>
              <a:defRPr sz="1000" b="1">
                <a:solidFill>
                  <a:srgbClr val="0EA5E9"/>
                </a:solidFill>
              </a:defRPr>
            </a:pPr>
            <a:r>
              <a:t>PHASED EXECUTION  •  MILESTONES</a:t>
            </a:r>
          </a:p>
        </p:txBody>
      </p:sp>
      <p:sp>
        <p:nvSpPr>
          <p:cNvPr id="4" name="TextBox 3"/>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defRPr>
            </a:pPr>
            <a:r>
              <a:t>Execution Roadmap &amp; Investment Summary: Path to Sustainable SaaS</a:t>
            </a:r>
          </a:p>
        </p:txBody>
      </p:sp>
      <p:sp>
        <p:nvSpPr>
          <p:cNvPr id="5" name="TextBox 4"/>
          <p:cNvSpPr txBox="1"/>
          <p:nvPr/>
        </p:nvSpPr>
        <p:spPr>
          <a:xfrm>
            <a:off x="10698480" y="365760"/>
            <a:ext cx="822960" cy="274320"/>
          </a:xfrm>
          <a:prstGeom prst="rect">
            <a:avLst/>
          </a:prstGeom>
          <a:noFill/>
        </p:spPr>
        <p:txBody>
          <a:bodyPr wrap="none">
            <a:spAutoFit/>
          </a:bodyPr>
          <a:lstStyle/>
          <a:p>
            <a:pPr algn="r">
              <a:defRPr sz="1000" b="1">
                <a:solidFill>
                  <a:srgbClr val="64748B"/>
                </a:solidFill>
              </a:defRPr>
            </a:pPr>
            <a:r>
              <a:t>10 / 10</a:t>
            </a:r>
          </a:p>
        </p:txBody>
      </p:sp>
      <p:sp>
        <p:nvSpPr>
          <p:cNvPr id="6" name="Rectangle 5"/>
          <p:cNvSpPr/>
          <p:nvPr/>
        </p:nvSpPr>
        <p:spPr>
          <a:xfrm>
            <a:off x="731520" y="1188720"/>
            <a:ext cx="10728655" cy="13716"/>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63040"/>
            <a:ext cx="3383280" cy="39319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27632"/>
            <a:ext cx="3017520" cy="292608"/>
          </a:xfrm>
          <a:prstGeom prst="rect">
            <a:avLst/>
          </a:prstGeom>
          <a:noFill/>
        </p:spPr>
        <p:txBody>
          <a:bodyPr wrap="square" lIns="0" tIns="0" rIns="0" bIns="0">
            <a:spAutoFit/>
          </a:bodyPr>
          <a:lstStyle/>
          <a:p>
            <a:pPr>
              <a:defRPr sz="1300" b="1">
                <a:solidFill>
                  <a:srgbClr val="F8FAFC"/>
                </a:solidFill>
              </a:defRPr>
            </a:pPr>
            <a:r>
              <a:t>PHASE 1: Foundation &amp; OSS Flywheel</a:t>
            </a:r>
          </a:p>
        </p:txBody>
      </p:sp>
      <p:sp>
        <p:nvSpPr>
          <p:cNvPr id="9" name="Rectangle 8"/>
          <p:cNvSpPr/>
          <p:nvPr/>
        </p:nvSpPr>
        <p:spPr>
          <a:xfrm>
            <a:off x="731520" y="1463040"/>
            <a:ext cx="338328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60"/>
            <a:ext cx="3017520" cy="274320"/>
          </a:xfrm>
          <a:prstGeom prst="rect">
            <a:avLst/>
          </a:prstGeom>
          <a:noFill/>
        </p:spPr>
        <p:txBody>
          <a:bodyPr wrap="none">
            <a:spAutoFit/>
          </a:bodyPr>
          <a:lstStyle/>
          <a:p>
            <a:pPr>
              <a:defRPr sz="950" b="1">
                <a:solidFill>
                  <a:srgbClr val="0EA5E9"/>
                </a:solidFill>
              </a:defRPr>
            </a:pPr>
            <a:r>
              <a:t>MONTHS 1 - 4</a:t>
            </a:r>
          </a:p>
        </p:txBody>
      </p:sp>
      <p:sp>
        <p:nvSpPr>
          <p:cNvPr id="11" name="TextBox 10"/>
          <p:cNvSpPr txBox="1"/>
          <p:nvPr/>
        </p:nvSpPr>
        <p:spPr>
          <a:xfrm>
            <a:off x="914400" y="2286000"/>
            <a:ext cx="3017520" cy="2926080"/>
          </a:xfrm>
          <a:prstGeom prst="rect">
            <a:avLst/>
          </a:prstGeom>
          <a:noFill/>
        </p:spPr>
        <p:txBody>
          <a:bodyPr wrap="square" lIns="0" tIns="0" rIns="0" bIns="0">
            <a:spAutoFit/>
          </a:bodyPr>
          <a:lstStyle/>
          <a:p>
            <a:pPr>
              <a:spcAft>
                <a:spcPts val="1000"/>
              </a:spcAft>
              <a:defRPr sz="950" b="1">
                <a:solidFill>
                  <a:srgbClr val="F8FAFC"/>
                </a:solidFill>
              </a:defRPr>
            </a:pPr>
            <a:r>
              <a:t>• UMS Spec 1.0 Finalization: </a:t>
            </a:r>
            <a:r>
              <a:rPr b="0">
                <a:solidFill>
                  <a:srgbClr val="94A3B8"/>
                </a:solidFill>
              </a:rPr>
              <a:t>Publish open JSON Schema, TypeScript types, and RFC standard</a:t>
            </a:r>
          </a:p>
          <a:p>
            <a:pPr>
              <a:spcAft>
                <a:spcPts val="1000"/>
              </a:spcAft>
              <a:defRPr sz="950" b="1">
                <a:solidFill>
                  <a:srgbClr val="F8FAFC"/>
                </a:solidFill>
              </a:defRPr>
            </a:pPr>
            <a:r>
              <a:t>• Zero-Dependency Tooling: </a:t>
            </a:r>
            <a:r>
              <a:rPr b="0">
                <a:solidFill>
                  <a:srgbClr val="94A3B8"/>
                </a:solidFill>
              </a:rPr>
              <a:t>Solidify CLI (cli.py), Local Web Studio (run.py), and SQLite Vault</a:t>
            </a:r>
          </a:p>
          <a:p>
            <a:pPr>
              <a:spcAft>
                <a:spcPts val="1000"/>
              </a:spcAft>
              <a:defRPr sz="950" b="1">
                <a:solidFill>
                  <a:srgbClr val="F8FAFC"/>
                </a:solidFill>
              </a:defRPr>
            </a:pPr>
            <a:r>
              <a:t>• Chrome Web Store Release: </a:t>
            </a:r>
            <a:r>
              <a:rPr b="0">
                <a:solidFill>
                  <a:srgbClr val="94A3B8"/>
                </a:solidFill>
              </a:rPr>
              <a:t>Deploy Manifest V3 extension companion with active tab detection</a:t>
            </a:r>
          </a:p>
          <a:p>
            <a:pPr>
              <a:spcAft>
                <a:spcPts val="1000"/>
              </a:spcAft>
              <a:defRPr sz="950" b="1">
                <a:solidFill>
                  <a:srgbClr val="F8FAFC"/>
                </a:solidFill>
              </a:defRPr>
            </a:pPr>
            <a:r>
              <a:t>• Community Target: </a:t>
            </a:r>
            <a:r>
              <a:rPr b="0">
                <a:solidFill>
                  <a:srgbClr val="94A3B8"/>
                </a:solidFill>
              </a:rPr>
              <a:t>Reach 10,000 active developers; establish core open-source credibility</a:t>
            </a:r>
          </a:p>
        </p:txBody>
      </p:sp>
      <p:sp>
        <p:nvSpPr>
          <p:cNvPr id="12" name="Rounded Rectangle 11"/>
          <p:cNvSpPr/>
          <p:nvPr/>
        </p:nvSpPr>
        <p:spPr>
          <a:xfrm>
            <a:off x="4389120" y="1463040"/>
            <a:ext cx="3383280" cy="39319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627632"/>
            <a:ext cx="3017520" cy="292608"/>
          </a:xfrm>
          <a:prstGeom prst="rect">
            <a:avLst/>
          </a:prstGeom>
          <a:noFill/>
        </p:spPr>
        <p:txBody>
          <a:bodyPr wrap="square" lIns="0" tIns="0" rIns="0" bIns="0">
            <a:spAutoFit/>
          </a:bodyPr>
          <a:lstStyle/>
          <a:p>
            <a:pPr>
              <a:defRPr sz="1300" b="1">
                <a:solidFill>
                  <a:srgbClr val="F8FAFC"/>
                </a:solidFill>
              </a:defRPr>
            </a:pPr>
            <a:r>
              <a:t>PHASE 2: Relay Pro Commercial Launch</a:t>
            </a:r>
          </a:p>
        </p:txBody>
      </p:sp>
      <p:sp>
        <p:nvSpPr>
          <p:cNvPr id="14" name="Rectangle 13"/>
          <p:cNvSpPr/>
          <p:nvPr/>
        </p:nvSpPr>
        <p:spPr>
          <a:xfrm>
            <a:off x="4389120" y="1463040"/>
            <a:ext cx="33832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965960"/>
            <a:ext cx="3017520" cy="274320"/>
          </a:xfrm>
          <a:prstGeom prst="rect">
            <a:avLst/>
          </a:prstGeom>
          <a:noFill/>
        </p:spPr>
        <p:txBody>
          <a:bodyPr wrap="none">
            <a:spAutoFit/>
          </a:bodyPr>
          <a:lstStyle/>
          <a:p>
            <a:pPr>
              <a:defRPr sz="950" b="1">
                <a:solidFill>
                  <a:srgbClr val="10B981"/>
                </a:solidFill>
              </a:defRPr>
            </a:pPr>
            <a:r>
              <a:t>MONTHS 5 - 8</a:t>
            </a:r>
          </a:p>
        </p:txBody>
      </p:sp>
      <p:sp>
        <p:nvSpPr>
          <p:cNvPr id="16" name="TextBox 15"/>
          <p:cNvSpPr txBox="1"/>
          <p:nvPr/>
        </p:nvSpPr>
        <p:spPr>
          <a:xfrm>
            <a:off x="4572000" y="2286000"/>
            <a:ext cx="3017520" cy="2926080"/>
          </a:xfrm>
          <a:prstGeom prst="rect">
            <a:avLst/>
          </a:prstGeom>
          <a:noFill/>
        </p:spPr>
        <p:txBody>
          <a:bodyPr wrap="square" lIns="0" tIns="0" rIns="0" bIns="0">
            <a:spAutoFit/>
          </a:bodyPr>
          <a:lstStyle/>
          <a:p>
            <a:pPr>
              <a:spcAft>
                <a:spcPts val="1000"/>
              </a:spcAft>
              <a:defRPr sz="950" b="1">
                <a:solidFill>
                  <a:srgbClr val="F8FAFC"/>
                </a:solidFill>
              </a:defRPr>
            </a:pPr>
            <a:r>
              <a:t>• Encrypted Sync Relay: </a:t>
            </a:r>
            <a:r>
              <a:rPr b="0">
                <a:solidFill>
                  <a:srgbClr val="94A3B8"/>
                </a:solidFill>
              </a:rPr>
              <a:t>Deploy multi-device synchronization backend with zero-knowledge keys</a:t>
            </a:r>
          </a:p>
          <a:p>
            <a:pPr>
              <a:spcAft>
                <a:spcPts val="1000"/>
              </a:spcAft>
              <a:defRPr sz="950" b="1">
                <a:solidFill>
                  <a:srgbClr val="F8FAFC"/>
                </a:solidFill>
              </a:defRPr>
            </a:pPr>
            <a:r>
              <a:t>• 1-Click Tab Session Handoff: </a:t>
            </a:r>
            <a:r>
              <a:rPr b="0">
                <a:solidFill>
                  <a:srgbClr val="94A3B8"/>
                </a:solidFill>
              </a:rPr>
              <a:t>Live cross-browser active session transfer between Claude &amp; ChatGPT</a:t>
            </a:r>
          </a:p>
          <a:p>
            <a:pPr>
              <a:spcAft>
                <a:spcPts val="1000"/>
              </a:spcAft>
              <a:defRPr sz="950" b="1">
                <a:solidFill>
                  <a:srgbClr val="F8FAFC"/>
                </a:solidFill>
              </a:defRPr>
            </a:pPr>
            <a:r>
              <a:t>• Closed-Loop Diff Engine: </a:t>
            </a:r>
            <a:r>
              <a:rPr b="0">
                <a:solidFill>
                  <a:srgbClr val="94A3B8"/>
                </a:solidFill>
              </a:rPr>
              <a:t>Automate semantic retention scoring (🟢 Learned, 🟡 Adapted, 🔴 Filtered)</a:t>
            </a:r>
          </a:p>
          <a:p>
            <a:pPr>
              <a:spcAft>
                <a:spcPts val="1000"/>
              </a:spcAft>
              <a:defRPr sz="950" b="1">
                <a:solidFill>
                  <a:srgbClr val="F8FAFC"/>
                </a:solidFill>
              </a:defRPr>
            </a:pPr>
            <a:r>
              <a:t>• Financial Target: </a:t>
            </a:r>
            <a:r>
              <a:rPr b="0">
                <a:solidFill>
                  <a:srgbClr val="94A3B8"/>
                </a:solidFill>
              </a:rPr>
              <a:t>Reach 800+ paid Pro subscribers ($10,000 MRR / $120k ARR)</a:t>
            </a:r>
          </a:p>
        </p:txBody>
      </p:sp>
      <p:sp>
        <p:nvSpPr>
          <p:cNvPr id="17" name="Rounded Rectangle 16"/>
          <p:cNvSpPr/>
          <p:nvPr/>
        </p:nvSpPr>
        <p:spPr>
          <a:xfrm>
            <a:off x="8046720" y="1463040"/>
            <a:ext cx="3383280" cy="3931920"/>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627632"/>
            <a:ext cx="3017520" cy="292608"/>
          </a:xfrm>
          <a:prstGeom prst="rect">
            <a:avLst/>
          </a:prstGeom>
          <a:noFill/>
        </p:spPr>
        <p:txBody>
          <a:bodyPr wrap="square" lIns="0" tIns="0" rIns="0" bIns="0">
            <a:spAutoFit/>
          </a:bodyPr>
          <a:lstStyle/>
          <a:p>
            <a:pPr>
              <a:defRPr sz="1300" b="1">
                <a:solidFill>
                  <a:srgbClr val="F8FAFC"/>
                </a:solidFill>
              </a:defRPr>
            </a:pPr>
            <a:r>
              <a:t>PHASE 3: Team Expansion &amp; Governance</a:t>
            </a:r>
          </a:p>
        </p:txBody>
      </p:sp>
      <p:sp>
        <p:nvSpPr>
          <p:cNvPr id="19" name="Rectangle 18"/>
          <p:cNvSpPr/>
          <p:nvPr/>
        </p:nvSpPr>
        <p:spPr>
          <a:xfrm>
            <a:off x="8046720" y="1463040"/>
            <a:ext cx="338328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965960"/>
            <a:ext cx="3017520" cy="274320"/>
          </a:xfrm>
          <a:prstGeom prst="rect">
            <a:avLst/>
          </a:prstGeom>
          <a:noFill/>
        </p:spPr>
        <p:txBody>
          <a:bodyPr wrap="none">
            <a:spAutoFit/>
          </a:bodyPr>
          <a:lstStyle/>
          <a:p>
            <a:pPr>
              <a:defRPr sz="950" b="1">
                <a:solidFill>
                  <a:srgbClr val="F59E0B"/>
                </a:solidFill>
              </a:defRPr>
            </a:pPr>
            <a:r>
              <a:t>MONTHS 9 - 14</a:t>
            </a:r>
          </a:p>
        </p:txBody>
      </p:sp>
      <p:sp>
        <p:nvSpPr>
          <p:cNvPr id="21" name="TextBox 20"/>
          <p:cNvSpPr txBox="1"/>
          <p:nvPr/>
        </p:nvSpPr>
        <p:spPr>
          <a:xfrm>
            <a:off x="8229600" y="2286000"/>
            <a:ext cx="3017520" cy="2926080"/>
          </a:xfrm>
          <a:prstGeom prst="rect">
            <a:avLst/>
          </a:prstGeom>
          <a:noFill/>
        </p:spPr>
        <p:txBody>
          <a:bodyPr wrap="square" lIns="0" tIns="0" rIns="0" bIns="0">
            <a:spAutoFit/>
          </a:bodyPr>
          <a:lstStyle/>
          <a:p>
            <a:pPr>
              <a:spcAft>
                <a:spcPts val="1000"/>
              </a:spcAft>
              <a:defRPr sz="950" b="1">
                <a:solidFill>
                  <a:srgbClr val="F8FAFC"/>
                </a:solidFill>
              </a:defRPr>
            </a:pPr>
            <a:r>
              <a:t>• Relay for Teams Launch: </a:t>
            </a:r>
            <a:r>
              <a:rPr b="0">
                <a:solidFill>
                  <a:srgbClr val="94A3B8"/>
                </a:solidFill>
              </a:rPr>
              <a:t>Centralized .cursorrules, CLAUDE.md, and repo prompt vault sync</a:t>
            </a:r>
          </a:p>
          <a:p>
            <a:pPr>
              <a:spcAft>
                <a:spcPts val="1000"/>
              </a:spcAft>
              <a:defRPr sz="950" b="1">
                <a:solidFill>
                  <a:srgbClr val="F8FAFC"/>
                </a:solidFill>
              </a:defRPr>
            </a:pPr>
            <a:r>
              <a:t>• Compliance &amp; Secret Scrubbing: </a:t>
            </a:r>
            <a:r>
              <a:rPr b="0">
                <a:solidFill>
                  <a:srgbClr val="94A3B8"/>
                </a:solidFill>
              </a:rPr>
              <a:t>WASM/Edge PII and API key redaction filter before provider ingest</a:t>
            </a:r>
          </a:p>
          <a:p>
            <a:pPr>
              <a:spcAft>
                <a:spcPts val="1000"/>
              </a:spcAft>
              <a:defRPr sz="950" b="1">
                <a:solidFill>
                  <a:srgbClr val="F8FAFC"/>
                </a:solidFill>
              </a:defRPr>
            </a:pPr>
            <a:r>
              <a:t>• Self-Hosted Relay Container: </a:t>
            </a:r>
            <a:r>
              <a:rPr b="0">
                <a:solidFill>
                  <a:srgbClr val="94A3B8"/>
                </a:solidFill>
              </a:rPr>
              <a:t>Dockerized on-premise relay for privacy-sensitive enterprise teams</a:t>
            </a:r>
          </a:p>
          <a:p>
            <a:pPr>
              <a:spcAft>
                <a:spcPts val="1000"/>
              </a:spcAft>
              <a:defRPr sz="950" b="1">
                <a:solidFill>
                  <a:srgbClr val="F8FAFC"/>
                </a:solidFill>
              </a:defRPr>
            </a:pPr>
            <a:r>
              <a:t>• Financial Target: </a:t>
            </a:r>
            <a:r>
              <a:rPr b="0">
                <a:solidFill>
                  <a:srgbClr val="94A3B8"/>
                </a:solidFill>
              </a:rPr>
              <a:t>Reach 50+ paid teams and 2,500 Pro devs ($50,000+ MRR / $600k+ ARR)</a:t>
            </a:r>
          </a:p>
        </p:txBody>
      </p:sp>
      <p:sp>
        <p:nvSpPr>
          <p:cNvPr id="22" name="Rounded Rectangle 21"/>
          <p:cNvSpPr/>
          <p:nvPr/>
        </p:nvSpPr>
        <p:spPr>
          <a:xfrm>
            <a:off x="731520" y="5532120"/>
            <a:ext cx="10728655" cy="868680"/>
          </a:xfrm>
          <a:prstGeom prst="roundRect">
            <a:avLst/>
          </a:prstGeom>
          <a:solidFill>
            <a:srgbClr val="141A24"/>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77840"/>
            <a:ext cx="10332720" cy="777240"/>
          </a:xfrm>
          <a:prstGeom prst="rect">
            <a:avLst/>
          </a:prstGeom>
          <a:noFill/>
        </p:spPr>
        <p:txBody>
          <a:bodyPr wrap="square">
            <a:spAutoFit/>
          </a:bodyPr>
          <a:lstStyle/>
          <a:p>
            <a:pPr>
              <a:defRPr sz="1000" b="1">
                <a:solidFill>
                  <a:srgbClr val="0EA5E9"/>
                </a:solidFill>
              </a:defRPr>
            </a:pPr>
            <a:r>
              <a:t>EXECUTIVE SUMMARY: </a:t>
            </a:r>
            <a:r>
              <a:rPr b="0">
                <a:solidFill>
                  <a:srgbClr val="F8FAFC"/>
                </a:solidFill>
              </a:rPr>
              <a:t>RelayAI combines an open, community-trusted specification (Universal Memory Schema) with a defensible, high-margin subscription SaaS model ($12/mo Pro, $28/seat Team). By eliminating the 'Context Reset Penalty' across ChatGPT, Claude, and developer IDEs without ToS violations or compute bloat, Relay delivers an indispensable utility for the multi-model AI 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